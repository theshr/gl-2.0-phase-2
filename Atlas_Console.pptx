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5" r:id="rId16"/>
    <p:sldId id="266" r:id="rId17"/>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03"/>
    <p:restoredTop sz="94610"/>
  </p:normalViewPr>
  <p:slideViewPr>
    <p:cSldViewPr snapToGrid="0" snapToObjects="1">
      <p:cViewPr varScale="1">
        <p:scale>
          <a:sx n="82" d="100"/>
          <a:sy n="82" d="100"/>
        </p:scale>
        <p:origin x="6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6.xml"/><Relationship Id="rId17"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5143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jpe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1097280"/>
            <a:ext cx="3291840" cy="3291840"/>
          </a:xfrm>
          <a:prstGeom prst="ellipse">
            <a:avLst/>
          </a:prstGeom>
          <a:solidFill>
            <a:srgbClr val="D9A406">
              <a:alpha val="14000"/>
            </a:srgbClr>
          </a:solidFill>
          <a:ln/>
        </p:spPr>
        <p:txBody>
          <a:bodyPr/>
          <a:p/>
        </p:txBody>
      </p:sp>
      <p:sp>
        <p:nvSpPr>
          <p:cNvPr id="3" name="Shape 1"/>
          <p:cNvSpPr/>
          <p:nvPr/>
        </p:nvSpPr>
        <p:spPr>
          <a:xfrm>
            <a:off x="9418320" y="1737360"/>
            <a:ext cx="2194560" cy="2194560"/>
          </a:xfrm>
          <a:prstGeom prst="ellipse">
            <a:avLst/>
          </a:prstGeom>
          <a:solidFill>
            <a:srgbClr val="EA580C">
              <a:alpha val="18000"/>
            </a:srgbClr>
          </a:solidFill>
          <a:ln/>
        </p:spPr>
        <p:txBody>
          <a:bodyPr/>
          <a:p/>
        </p:txBody>
      </p:sp>
      <p:sp>
        <p:nvSpPr>
          <p:cNvPr id="4" name="Shape 2"/>
          <p:cNvSpPr/>
          <p:nvPr/>
        </p:nvSpPr>
        <p:spPr>
          <a:xfrm>
            <a:off x="10012680" y="2286000"/>
            <a:ext cx="1143000" cy="1143000"/>
          </a:xfrm>
          <a:prstGeom prst="ellipse">
            <a:avLst/>
          </a:prstGeom>
          <a:solidFill>
            <a:srgbClr val="DC2626">
              <a:alpha val="22000"/>
            </a:srgbClr>
          </a:solidFill>
          <a:ln/>
        </p:spPr>
        <p:txBody>
          <a:bodyPr/>
          <a:p/>
        </p:txBody>
      </p:sp>
      <p:sp>
        <p:nvSpPr>
          <p:cNvPr id="7" name="Text 4"/>
          <p:cNvSpPr/>
          <p:nvPr/>
        </p:nvSpPr>
        <p:spPr>
          <a:xfrm>
            <a:off x="8229600" y="658368"/>
            <a:ext cx="3383280" cy="365760"/>
          </a:xfrm>
          <a:prstGeom prst="rect">
            <a:avLst/>
          </a:prstGeom>
          <a:noFill/>
          <a:ln/>
        </p:spPr>
        <p:txBody>
          <a:bodyPr wrap="square" lIns="0" tIns="0" rIns="0" bIns="0" rtlCol="0" anchor="ctr"/>
          <a:lstStyle/>
          <a:p>
            <a:pPr marL="0" indent="0" algn="r">
              <a:buNone/>
            </a:pPr>
            <a:r>
              <a:rPr lang="en-US" sz="1200" dirty="0">
                <a:solidFill>
                  <a:srgbClr val="9CA3AF"/>
                </a:solidFill>
                <a:latin typeface="Consolas" pitchFamily="34" charset="0"/>
                <a:ea typeface="Consolas" pitchFamily="34" charset="-122"/>
                <a:cs typeface="Consolas" pitchFamily="34" charset="-120"/>
              </a:rPr>
              <a:t>BTP · CMD   20:58 IST</a:t>
            </a:r>
            <a:endParaRPr lang="en-US" sz="1200" dirty="0"/>
          </a:p>
        </p:txBody>
      </p:sp>
      <p:sp>
        <p:nvSpPr>
          <p:cNvPr id="8" name="Shape 5"/>
          <p:cNvSpPr/>
          <p:nvPr/>
        </p:nvSpPr>
        <p:spPr>
          <a:xfrm>
            <a:off x="566928" y="2542032"/>
            <a:ext cx="118872" cy="118872"/>
          </a:xfrm>
          <a:prstGeom prst="rect">
            <a:avLst/>
          </a:prstGeom>
          <a:solidFill>
            <a:srgbClr val="C2785F"/>
          </a:solidFill>
          <a:ln/>
        </p:spPr>
        <p:txBody>
          <a:bodyPr/>
          <a:p/>
        </p:txBody>
      </p:sp>
      <p:sp>
        <p:nvSpPr>
          <p:cNvPr id="9" name="Text 6"/>
          <p:cNvSpPr/>
          <p:nvPr/>
        </p:nvSpPr>
        <p:spPr>
          <a:xfrm>
            <a:off x="777240" y="2570700"/>
            <a:ext cx="7315200" cy="274320"/>
          </a:xfrm>
          <a:prstGeom prst="rect">
            <a:avLst/>
          </a:prstGeom>
          <a:noFill/>
          <a:ln/>
        </p:spPr>
        <p:txBody>
          <a:bodyPr wrap="square" lIns="0" tIns="0" rIns="0" bIns="0" rtlCol="0" anchor="ctr"/>
          <a:lstStyle/>
          <a:p>
            <a:pPr marL="0" indent="0">
              <a:buNone/>
            </a:pPr>
            <a:r>
              <a:rPr lang="en-US" sz="1300" b="1" kern="0" spc="300" dirty="0">
                <a:solidFill>
                  <a:srgbClr val="6B7280"/>
                </a:solidFill>
                <a:latin typeface="Inter" pitchFamily="34" charset="0"/>
                <a:ea typeface="Inter" pitchFamily="34" charset="-122"/>
                <a:cs typeface="Inter" pitchFamily="34" charset="-120"/>
              </a:rPr>
              <a:t>PREDICTIVE TRAFFIC COMMAND</a:t>
            </a:r>
            <a:endParaRPr lang="en-US" sz="1300" dirty="0"/>
          </a:p>
        </p:txBody>
      </p:sp>
      <p:sp>
        <p:nvSpPr>
          <p:cNvPr id="10" name="Text 7"/>
          <p:cNvSpPr/>
          <p:nvPr/>
        </p:nvSpPr>
        <p:spPr>
          <a:xfrm>
            <a:off x="548640" y="2834640"/>
            <a:ext cx="8778240" cy="1645920"/>
          </a:xfrm>
          <a:prstGeom prst="rect">
            <a:avLst/>
          </a:prstGeom>
          <a:noFill/>
          <a:ln/>
        </p:spPr>
        <p:txBody>
          <a:bodyPr wrap="square" lIns="0" tIns="0" rIns="0" bIns="0" rtlCol="0" anchor="ctr"/>
          <a:lstStyle/>
          <a:p>
            <a:pPr marL="0" indent="0">
              <a:lnSpc>
                <a:spcPct val="100000"/>
              </a:lnSpc>
              <a:buNone/>
            </a:pPr>
            <a:r>
              <a:rPr lang="en-US" sz="4200" b="1" dirty="0">
                <a:solidFill>
                  <a:srgbClr val="111827"/>
                </a:solidFill>
                <a:latin typeface="Inter" pitchFamily="34" charset="0"/>
                <a:ea typeface="Inter" pitchFamily="34" charset="-122"/>
                <a:cs typeface="Inter" pitchFamily="34" charset="-120"/>
              </a:rPr>
              <a:t>Reduce traffic gridlock with</a:t>
            </a:r>
            <a:endParaRPr lang="en-US" sz="4200" dirty="0"/>
          </a:p>
          <a:p>
            <a:pPr marL="0" indent="0">
              <a:lnSpc>
                <a:spcPct val="100000"/>
              </a:lnSpc>
              <a:buNone/>
            </a:pPr>
            <a:r>
              <a:rPr lang="en-US" sz="4200" b="1" dirty="0">
                <a:solidFill>
                  <a:srgbClr val="111827"/>
                </a:solidFill>
                <a:latin typeface="Inter" pitchFamily="34" charset="0"/>
                <a:ea typeface="Inter" pitchFamily="34" charset="-122"/>
                <a:cs typeface="Inter" pitchFamily="34" charset="-120"/>
              </a:rPr>
              <a:t>predictive hotspot dispatch.</a:t>
            </a:r>
            <a:endParaRPr lang="en-US" sz="4200" dirty="0"/>
          </a:p>
        </p:txBody>
      </p:sp>
      <p:sp>
        <p:nvSpPr>
          <p:cNvPr id="11" name="Text 8"/>
          <p:cNvSpPr/>
          <p:nvPr/>
        </p:nvSpPr>
        <p:spPr>
          <a:xfrm>
            <a:off x="566928" y="4572000"/>
            <a:ext cx="7955280" cy="914400"/>
          </a:xfrm>
          <a:prstGeom prst="rect">
            <a:avLst/>
          </a:prstGeom>
          <a:noFill/>
          <a:ln/>
        </p:spPr>
        <p:txBody>
          <a:bodyPr wrap="square" lIns="0" tIns="0" rIns="0" bIns="0" rtlCol="0" anchor="ctr"/>
          <a:lstStyle/>
          <a:p>
            <a:pPr marL="0" indent="0">
              <a:lnSpc>
                <a:spcPct val="120000"/>
              </a:lnSpc>
              <a:buNone/>
            </a:pPr>
            <a:r>
              <a:rPr lang="en-US" sz="1500" dirty="0">
                <a:solidFill>
                  <a:srgbClr val="6B7280"/>
                </a:solidFill>
                <a:latin typeface="Inter" pitchFamily="34" charset="0"/>
                <a:ea typeface="Inter" pitchFamily="34" charset="-122"/>
                <a:cs typeface="Inter" pitchFamily="34" charset="-120"/>
              </a:rPr>
              <a:t>Atlas forecasts where congestion will spike next, then dispatches officers to the right junctions </a:t>
            </a:r>
            <a:r>
              <a:rPr lang="en-US" sz="1500" b="1" dirty="0">
                <a:solidFill>
                  <a:srgbClr val="111827"/>
                </a:solidFill>
                <a:latin typeface="Inter" pitchFamily="34" charset="0"/>
                <a:ea typeface="Inter" pitchFamily="34" charset="-122"/>
                <a:cs typeface="Inter" pitchFamily="34" charset="-120"/>
              </a:rPr>
              <a:t>before the jam forms.</a:t>
            </a:r>
            <a:r>
              <a:rPr lang="en-US" sz="1500" dirty="0">
                <a:solidFill>
                  <a:srgbClr val="6B7280"/>
                </a:solidFill>
                <a:latin typeface="Inter" pitchFamily="34" charset="0"/>
                <a:ea typeface="Inter" pitchFamily="34" charset="-122"/>
                <a:cs typeface="Inter" pitchFamily="34" charset="-120"/>
              </a:rPr>
              <a:t>  Built on ST-GATv2 spatiotemporal forecasting and ILP optimization.</a:t>
            </a:r>
            <a:endParaRPr lang="en-US" sz="1500" dirty="0"/>
          </a:p>
        </p:txBody>
      </p:sp>
      <p:sp>
        <p:nvSpPr>
          <p:cNvPr id="12" name="Shape 9"/>
          <p:cNvSpPr/>
          <p:nvPr/>
        </p:nvSpPr>
        <p:spPr>
          <a:xfrm>
            <a:off x="566928" y="5806440"/>
            <a:ext cx="11064240" cy="0"/>
          </a:xfrm>
          <a:prstGeom prst="line">
            <a:avLst/>
          </a:prstGeom>
          <a:noFill/>
          <a:ln w="12700">
            <a:solidFill>
              <a:srgbClr val="E5E7EB"/>
            </a:solidFill>
            <a:prstDash val="solid"/>
          </a:ln>
        </p:spPr>
        <p:txBody>
          <a:bodyPr/>
          <a:p/>
        </p:txBody>
      </p:sp>
      <p:sp>
        <p:nvSpPr>
          <p:cNvPr id="13" name="Text 10"/>
          <p:cNvSpPr/>
          <p:nvPr/>
        </p:nvSpPr>
        <p:spPr>
          <a:xfrm>
            <a:off x="566928" y="5989320"/>
            <a:ext cx="1828800" cy="219456"/>
          </a:xfrm>
          <a:prstGeom prst="rect">
            <a:avLst/>
          </a:prstGeom>
          <a:noFill/>
          <a:ln/>
        </p:spPr>
        <p:txBody>
          <a:bodyPr wrap="square" lIns="0" tIns="0" rIns="0" bIns="0" rtlCol="0" anchor="ctr"/>
          <a:lstStyle/>
          <a:p>
            <a:pPr marL="0" indent="0">
              <a:buNone/>
            </a:pPr>
            <a:r>
              <a:rPr lang="en-US" sz="900" b="1" kern="0" spc="200" dirty="0">
                <a:solidFill>
                  <a:srgbClr val="9CA3AF"/>
                </a:solidFill>
                <a:latin typeface="Inter" pitchFamily="34" charset="0"/>
                <a:ea typeface="Inter" pitchFamily="34" charset="-122"/>
                <a:cs typeface="Inter" pitchFamily="34" charset="-120"/>
              </a:rPr>
              <a:t>RISK MODEL</a:t>
            </a:r>
            <a:endParaRPr lang="en-US" sz="900" dirty="0"/>
          </a:p>
        </p:txBody>
      </p:sp>
      <p:sp>
        <p:nvSpPr>
          <p:cNvPr id="14" name="Shape 11"/>
          <p:cNvSpPr/>
          <p:nvPr/>
        </p:nvSpPr>
        <p:spPr>
          <a:xfrm>
            <a:off x="2194560" y="6025896"/>
            <a:ext cx="109728" cy="109728"/>
          </a:xfrm>
          <a:prstGeom prst="ellipse">
            <a:avLst/>
          </a:prstGeom>
          <a:solidFill>
            <a:srgbClr val="DC2626"/>
          </a:solidFill>
          <a:ln/>
        </p:spPr>
        <p:txBody>
          <a:bodyPr/>
          <a:p/>
        </p:txBody>
      </p:sp>
      <p:sp>
        <p:nvSpPr>
          <p:cNvPr id="15" name="Text 12"/>
          <p:cNvSpPr/>
          <p:nvPr/>
        </p:nvSpPr>
        <p:spPr>
          <a:xfrm>
            <a:off x="2359152" y="5971032"/>
            <a:ext cx="1051560" cy="219456"/>
          </a:xfrm>
          <a:prstGeom prst="rect">
            <a:avLst/>
          </a:prstGeom>
          <a:noFill/>
          <a:ln/>
        </p:spPr>
        <p:txBody>
          <a:bodyPr wrap="square" lIns="0" tIns="0" rIns="0" bIns="0" rtlCol="0" anchor="ctr"/>
          <a:lstStyle/>
          <a:p>
            <a:pPr marL="0" indent="0">
              <a:buNone/>
            </a:pPr>
            <a:r>
              <a:rPr lang="en-US" sz="900" kern="0" spc="100" dirty="0">
                <a:solidFill>
                  <a:srgbClr val="6B7280"/>
                </a:solidFill>
                <a:latin typeface="Consolas" pitchFamily="34" charset="0"/>
                <a:ea typeface="Consolas" pitchFamily="34" charset="-122"/>
                <a:cs typeface="Consolas" pitchFamily="34" charset="-120"/>
              </a:rPr>
              <a:t>CRITICAL</a:t>
            </a:r>
            <a:endParaRPr lang="en-US" sz="900" dirty="0"/>
          </a:p>
        </p:txBody>
      </p:sp>
      <p:sp>
        <p:nvSpPr>
          <p:cNvPr id="16" name="Shape 13"/>
          <p:cNvSpPr/>
          <p:nvPr/>
        </p:nvSpPr>
        <p:spPr>
          <a:xfrm>
            <a:off x="3474720" y="6025896"/>
            <a:ext cx="109728" cy="109728"/>
          </a:xfrm>
          <a:prstGeom prst="ellipse">
            <a:avLst/>
          </a:prstGeom>
          <a:solidFill>
            <a:srgbClr val="EA580C"/>
          </a:solidFill>
          <a:ln/>
        </p:spPr>
        <p:txBody>
          <a:bodyPr/>
          <a:p/>
        </p:txBody>
      </p:sp>
      <p:sp>
        <p:nvSpPr>
          <p:cNvPr id="17" name="Text 14"/>
          <p:cNvSpPr/>
          <p:nvPr/>
        </p:nvSpPr>
        <p:spPr>
          <a:xfrm>
            <a:off x="3639312" y="5971032"/>
            <a:ext cx="1051560" cy="219456"/>
          </a:xfrm>
          <a:prstGeom prst="rect">
            <a:avLst/>
          </a:prstGeom>
          <a:noFill/>
          <a:ln/>
        </p:spPr>
        <p:txBody>
          <a:bodyPr wrap="square" lIns="0" tIns="0" rIns="0" bIns="0" rtlCol="0" anchor="ctr"/>
          <a:lstStyle/>
          <a:p>
            <a:pPr marL="0" indent="0">
              <a:buNone/>
            </a:pPr>
            <a:r>
              <a:rPr lang="en-US" sz="900" kern="0" spc="100" dirty="0">
                <a:solidFill>
                  <a:srgbClr val="6B7280"/>
                </a:solidFill>
                <a:latin typeface="Consolas" pitchFamily="34" charset="0"/>
                <a:ea typeface="Consolas" pitchFamily="34" charset="-122"/>
                <a:cs typeface="Consolas" pitchFamily="34" charset="-120"/>
              </a:rPr>
              <a:t>HIGH</a:t>
            </a:r>
            <a:endParaRPr lang="en-US" sz="900" dirty="0"/>
          </a:p>
        </p:txBody>
      </p:sp>
      <p:sp>
        <p:nvSpPr>
          <p:cNvPr id="18" name="Shape 15"/>
          <p:cNvSpPr/>
          <p:nvPr/>
        </p:nvSpPr>
        <p:spPr>
          <a:xfrm>
            <a:off x="4754880" y="6025896"/>
            <a:ext cx="109728" cy="109728"/>
          </a:xfrm>
          <a:prstGeom prst="ellipse">
            <a:avLst/>
          </a:prstGeom>
          <a:solidFill>
            <a:srgbClr val="D9A406"/>
          </a:solidFill>
          <a:ln/>
        </p:spPr>
        <p:txBody>
          <a:bodyPr/>
          <a:p/>
        </p:txBody>
      </p:sp>
      <p:sp>
        <p:nvSpPr>
          <p:cNvPr id="19" name="Text 16"/>
          <p:cNvSpPr/>
          <p:nvPr/>
        </p:nvSpPr>
        <p:spPr>
          <a:xfrm>
            <a:off x="4919472" y="5971032"/>
            <a:ext cx="1051560" cy="219456"/>
          </a:xfrm>
          <a:prstGeom prst="rect">
            <a:avLst/>
          </a:prstGeom>
          <a:noFill/>
          <a:ln/>
        </p:spPr>
        <p:txBody>
          <a:bodyPr wrap="square" lIns="0" tIns="0" rIns="0" bIns="0" rtlCol="0" anchor="ctr"/>
          <a:lstStyle/>
          <a:p>
            <a:pPr marL="0" indent="0">
              <a:buNone/>
            </a:pPr>
            <a:r>
              <a:rPr lang="en-US" sz="900" kern="0" spc="100" dirty="0">
                <a:solidFill>
                  <a:srgbClr val="6B7280"/>
                </a:solidFill>
                <a:latin typeface="Consolas" pitchFamily="34" charset="0"/>
                <a:ea typeface="Consolas" pitchFamily="34" charset="-122"/>
                <a:cs typeface="Consolas" pitchFamily="34" charset="-120"/>
              </a:rPr>
              <a:t>MODERATE</a:t>
            </a:r>
            <a:endParaRPr lang="en-US" sz="900" dirty="0"/>
          </a:p>
        </p:txBody>
      </p:sp>
      <p:sp>
        <p:nvSpPr>
          <p:cNvPr id="20" name="Shape 17"/>
          <p:cNvSpPr/>
          <p:nvPr/>
        </p:nvSpPr>
        <p:spPr>
          <a:xfrm>
            <a:off x="6035040" y="6025896"/>
            <a:ext cx="109728" cy="109728"/>
          </a:xfrm>
          <a:prstGeom prst="ellipse">
            <a:avLst/>
          </a:prstGeom>
          <a:solidFill>
            <a:srgbClr val="16A34A"/>
          </a:solidFill>
          <a:ln/>
        </p:spPr>
        <p:txBody>
          <a:bodyPr/>
          <a:p/>
        </p:txBody>
      </p:sp>
      <p:sp>
        <p:nvSpPr>
          <p:cNvPr id="21" name="Text 18"/>
          <p:cNvSpPr/>
          <p:nvPr/>
        </p:nvSpPr>
        <p:spPr>
          <a:xfrm>
            <a:off x="6199632" y="5971032"/>
            <a:ext cx="1051560" cy="219456"/>
          </a:xfrm>
          <a:prstGeom prst="rect">
            <a:avLst/>
          </a:prstGeom>
          <a:noFill/>
          <a:ln/>
        </p:spPr>
        <p:txBody>
          <a:bodyPr wrap="square" lIns="0" tIns="0" rIns="0" bIns="0" rtlCol="0" anchor="ctr"/>
          <a:lstStyle/>
          <a:p>
            <a:pPr marL="0" indent="0">
              <a:buNone/>
            </a:pPr>
            <a:r>
              <a:rPr lang="en-US" sz="900" kern="0" spc="100" dirty="0">
                <a:solidFill>
                  <a:srgbClr val="6B7280"/>
                </a:solidFill>
                <a:latin typeface="Consolas" pitchFamily="34" charset="0"/>
                <a:ea typeface="Consolas" pitchFamily="34" charset="-122"/>
                <a:cs typeface="Consolas" pitchFamily="34" charset="-120"/>
              </a:rPr>
              <a:t>LOW</a:t>
            </a:r>
            <a:endParaRPr lang="en-US" sz="900" dirty="0"/>
          </a:p>
        </p:txBody>
      </p:sp>
      <p:sp>
        <p:nvSpPr>
          <p:cNvPr id="22" name="Shape 19"/>
          <p:cNvSpPr/>
          <p:nvPr/>
        </p:nvSpPr>
        <p:spPr>
          <a:xfrm>
            <a:off x="7315200" y="6025896"/>
            <a:ext cx="109728" cy="109728"/>
          </a:xfrm>
          <a:prstGeom prst="ellipse">
            <a:avLst/>
          </a:prstGeom>
          <a:solidFill>
            <a:srgbClr val="2563EB"/>
          </a:solidFill>
          <a:ln/>
        </p:spPr>
        <p:txBody>
          <a:bodyPr/>
          <a:p/>
        </p:txBody>
      </p:sp>
      <p:sp>
        <p:nvSpPr>
          <p:cNvPr id="23" name="Text 20"/>
          <p:cNvSpPr/>
          <p:nvPr/>
        </p:nvSpPr>
        <p:spPr>
          <a:xfrm>
            <a:off x="7479792" y="5971032"/>
            <a:ext cx="1051560" cy="219456"/>
          </a:xfrm>
          <a:prstGeom prst="rect">
            <a:avLst/>
          </a:prstGeom>
          <a:noFill/>
          <a:ln/>
        </p:spPr>
        <p:txBody>
          <a:bodyPr wrap="square" lIns="0" tIns="0" rIns="0" bIns="0" rtlCol="0" anchor="ctr"/>
          <a:lstStyle/>
          <a:p>
            <a:pPr marL="0" indent="0">
              <a:buNone/>
            </a:pPr>
            <a:r>
              <a:rPr lang="en-US" sz="900" kern="0" spc="100" dirty="0">
                <a:solidFill>
                  <a:srgbClr val="6B7280"/>
                </a:solidFill>
                <a:latin typeface="Consolas" pitchFamily="34" charset="0"/>
                <a:ea typeface="Consolas" pitchFamily="34" charset="-122"/>
                <a:cs typeface="Consolas" pitchFamily="34" charset="-120"/>
              </a:rPr>
              <a:t>MINIMAL</a:t>
            </a:r>
            <a:endParaRPr lang="en-US" sz="900" dirty="0"/>
          </a:p>
        </p:txBody>
      </p:sp>
      <p:pic>
        <p:nvPicPr>
          <p:cNvPr id="25" name="Picture 24" descr="A black and white logo&#10;&#10;AI-generated content may be incorrect.">
            <a:extLst>
              <a:ext uri="{FF2B5EF4-FFF2-40B4-BE49-F238E27FC236}">
                <a16:creationId xmlns:a16="http://schemas.microsoft.com/office/drawing/2014/main" id="{9CEE50E4-E8E9-97FB-8DB7-9A6C579E5470}"/>
              </a:ext>
            </a:extLst>
          </p:cNvPr>
          <p:cNvPicPr>
            <a:picLocks noChangeAspect="1"/>
          </p:cNvPicPr>
          <p:nvPr/>
        </p:nvPicPr>
        <p:blipFill>
          <a:blip r:embed="rId3"/>
          <a:stretch>
            <a:fillRect/>
          </a:stretch>
        </p:blipFill>
        <p:spPr>
          <a:xfrm>
            <a:off x="106744" y="368012"/>
            <a:ext cx="3083405" cy="1645920"/>
          </a:xfrm>
          <a:prstGeom prst="rect">
            <a:avLst/>
          </a:prstGeom>
        </p:spPr>
      </p:pic>
      <p:sp>
        <p:nvSpPr>
          <p:cNvPr id="27" name="Text 6">
            <a:extLst>
              <a:ext uri="{FF2B5EF4-FFF2-40B4-BE49-F238E27FC236}">
                <a16:creationId xmlns:a16="http://schemas.microsoft.com/office/drawing/2014/main" id="{0E25674F-1D61-07D0-2FF7-1FD942662039}"/>
              </a:ext>
            </a:extLst>
          </p:cNvPr>
          <p:cNvSpPr/>
          <p:nvPr/>
        </p:nvSpPr>
        <p:spPr>
          <a:xfrm>
            <a:off x="753533" y="2159242"/>
            <a:ext cx="2290531" cy="219442"/>
          </a:xfrm>
          <a:prstGeom prst="rect">
            <a:avLst/>
          </a:prstGeom>
          <a:noFill/>
          <a:ln/>
        </p:spPr>
        <p:txBody>
          <a:bodyPr wrap="square" lIns="0" tIns="0" rIns="0" bIns="0" rtlCol="0" anchor="ctr"/>
          <a:lstStyle/>
          <a:p>
            <a:pPr marL="0" indent="0">
              <a:buNone/>
            </a:pPr>
            <a:r>
              <a:rPr lang="en-US" b="1" kern="0" spc="300" dirty="0">
                <a:solidFill>
                  <a:schemeClr val="tx1">
                    <a:lumMod val="65000"/>
                    <a:lumOff val="35000"/>
                  </a:schemeClr>
                </a:solidFill>
                <a:latin typeface="Inter" pitchFamily="34" charset="0"/>
                <a:ea typeface="Inter" pitchFamily="34" charset="-122"/>
                <a:cs typeface="Inter" pitchFamily="34" charset="-120"/>
              </a:rPr>
              <a:t>Team : </a:t>
            </a:r>
            <a:r>
              <a:rPr lang="en-US" b="1" kern="0" spc="300" dirty="0" err="1">
                <a:solidFill>
                  <a:schemeClr val="tx1">
                    <a:lumMod val="65000"/>
                    <a:lumOff val="35000"/>
                  </a:schemeClr>
                </a:solidFill>
                <a:latin typeface="Inter" pitchFamily="34" charset="0"/>
                <a:ea typeface="Inter" pitchFamily="34" charset="-122"/>
                <a:cs typeface="Inter" pitchFamily="34" charset="-120"/>
              </a:rPr>
              <a:t>Fluxbit</a:t>
            </a:r>
            <a:endParaRPr lang="en-US" sz="1600" dirty="0">
              <a:solidFill>
                <a:schemeClr val="tx1">
                  <a:lumMod val="65000"/>
                  <a:lumOff val="35000"/>
                </a:schemeClr>
              </a:solidFill>
            </a:endParaRPr>
          </a:p>
        </p:txBody>
      </p:sp>
    </p:spTree>
  </p:cSld>
  <p:clrMapOvr>
    <a:masterClrMapping/>
  </p:clrMapOvr>
  <p:transition spee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01 · THE PROBLEM</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Congestion is fought after it's already gridlocked</a:t>
            </a:r>
            <a:endParaRPr lang="en-US" sz="2900" dirty="0"/>
          </a:p>
        </p:txBody>
      </p:sp>
      <p:sp>
        <p:nvSpPr>
          <p:cNvPr id="5" name="Shape 3"/>
          <p:cNvSpPr/>
          <p:nvPr/>
        </p:nvSpPr>
        <p:spPr>
          <a:xfrm>
            <a:off x="566928" y="1572768"/>
            <a:ext cx="3584448" cy="2286000"/>
          </a:xfrm>
          <a:prstGeom prst="roundRect">
            <a:avLst>
              <a:gd name="adj" fmla="val 2000"/>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6" name="Image 0" descr="preencoded.png"/>
          <p:cNvPicPr>
            <a:picLocks noChangeAspect="1"/>
          </p:cNvPicPr>
          <p:nvPr/>
        </p:nvPicPr>
        <p:blipFill>
          <a:blip r:embed="rId3"/>
          <a:stretch>
            <a:fillRect/>
          </a:stretch>
        </p:blipFill>
        <p:spPr>
          <a:xfrm>
            <a:off x="841248" y="1828800"/>
            <a:ext cx="457200" cy="457200"/>
          </a:xfrm>
          <a:prstGeom prst="rect">
            <a:avLst/>
          </a:prstGeom>
        </p:spPr>
      </p:pic>
      <p:sp>
        <p:nvSpPr>
          <p:cNvPr id="7" name="Shape 4"/>
          <p:cNvSpPr/>
          <p:nvPr/>
        </p:nvSpPr>
        <p:spPr>
          <a:xfrm>
            <a:off x="841248" y="2542032"/>
            <a:ext cx="91440" cy="91440"/>
          </a:xfrm>
          <a:prstGeom prst="rect">
            <a:avLst/>
          </a:prstGeom>
          <a:solidFill>
            <a:srgbClr val="C2785F"/>
          </a:solidFill>
          <a:ln/>
        </p:spPr>
        <p:txBody>
          <a:bodyPr/>
          <a:p/>
        </p:txBody>
      </p:sp>
      <p:sp>
        <p:nvSpPr>
          <p:cNvPr id="8" name="Text 5"/>
          <p:cNvSpPr/>
          <p:nvPr/>
        </p:nvSpPr>
        <p:spPr>
          <a:xfrm>
            <a:off x="1024128" y="2478024"/>
            <a:ext cx="2944368" cy="274320"/>
          </a:xfrm>
          <a:prstGeom prst="rect">
            <a:avLst/>
          </a:prstGeom>
          <a:noFill/>
          <a:ln/>
        </p:spPr>
        <p:txBody>
          <a:bodyPr wrap="square" lIns="0" tIns="0" rIns="0" bIns="0" rtlCol="0" anchor="ctr"/>
          <a:lstStyle/>
          <a:p>
            <a:pPr marL="0" indent="0">
              <a:buNone/>
            </a:pPr>
            <a:r>
              <a:rPr lang="en-US" sz="1200" b="1" kern="0" spc="200" dirty="0">
                <a:solidFill>
                  <a:srgbClr val="111827"/>
                </a:solidFill>
                <a:latin typeface="Inter" pitchFamily="34" charset="0"/>
                <a:ea typeface="Inter" pitchFamily="34" charset="-122"/>
                <a:cs typeface="Inter" pitchFamily="34" charset="-120"/>
              </a:rPr>
              <a:t>THE CITY</a:t>
            </a:r>
            <a:endParaRPr lang="en-US" sz="1200" dirty="0"/>
          </a:p>
        </p:txBody>
      </p:sp>
      <p:sp>
        <p:nvSpPr>
          <p:cNvPr id="9" name="Text 6"/>
          <p:cNvSpPr/>
          <p:nvPr/>
        </p:nvSpPr>
        <p:spPr>
          <a:xfrm>
            <a:off x="841248" y="2852928"/>
            <a:ext cx="3081528" cy="914400"/>
          </a:xfrm>
          <a:prstGeom prst="rect">
            <a:avLst/>
          </a:prstGeom>
          <a:noFill/>
          <a:ln/>
        </p:spPr>
        <p:txBody>
          <a:bodyPr wrap="square" lIns="0" tIns="0" rIns="0" bIns="0" rtlCol="0" anchor="ctr"/>
          <a:lstStyle/>
          <a:p>
            <a:pPr marL="0" indent="0">
              <a:lnSpc>
                <a:spcPct val="118000"/>
              </a:lnSpc>
              <a:buNone/>
            </a:pPr>
            <a:r>
              <a:rPr lang="en-US" sz="1150" dirty="0">
                <a:solidFill>
                  <a:srgbClr val="6B7280"/>
                </a:solidFill>
                <a:latin typeface="Inter" pitchFamily="34" charset="0"/>
                <a:ea typeface="Inter" pitchFamily="34" charset="-122"/>
                <a:cs typeface="Inter" pitchFamily="34" charset="-120"/>
              </a:rPr>
              <a:t>Bengaluru corridors choke at predictable times — yet congestion is handled reactively, only once a junction is already jammed.</a:t>
            </a:r>
            <a:endParaRPr lang="en-US" sz="1150" dirty="0"/>
          </a:p>
        </p:txBody>
      </p:sp>
      <p:sp>
        <p:nvSpPr>
          <p:cNvPr id="10" name="Shape 7"/>
          <p:cNvSpPr/>
          <p:nvPr/>
        </p:nvSpPr>
        <p:spPr>
          <a:xfrm>
            <a:off x="4425696" y="1572768"/>
            <a:ext cx="3584448" cy="2286000"/>
          </a:xfrm>
          <a:prstGeom prst="roundRect">
            <a:avLst>
              <a:gd name="adj" fmla="val 2000"/>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1" name="Image 1" descr="preencoded.png"/>
          <p:cNvPicPr>
            <a:picLocks noChangeAspect="1"/>
          </p:cNvPicPr>
          <p:nvPr/>
        </p:nvPicPr>
        <p:blipFill>
          <a:blip r:embed="rId4"/>
          <a:stretch>
            <a:fillRect/>
          </a:stretch>
        </p:blipFill>
        <p:spPr>
          <a:xfrm>
            <a:off x="4700016" y="1828800"/>
            <a:ext cx="457200" cy="457200"/>
          </a:xfrm>
          <a:prstGeom prst="rect">
            <a:avLst/>
          </a:prstGeom>
        </p:spPr>
      </p:pic>
      <p:sp>
        <p:nvSpPr>
          <p:cNvPr id="12" name="Shape 8"/>
          <p:cNvSpPr/>
          <p:nvPr/>
        </p:nvSpPr>
        <p:spPr>
          <a:xfrm>
            <a:off x="4700016" y="2542032"/>
            <a:ext cx="91440" cy="91440"/>
          </a:xfrm>
          <a:prstGeom prst="rect">
            <a:avLst/>
          </a:prstGeom>
          <a:solidFill>
            <a:srgbClr val="C2785F"/>
          </a:solidFill>
          <a:ln/>
        </p:spPr>
        <p:txBody>
          <a:bodyPr/>
          <a:p/>
        </p:txBody>
      </p:sp>
      <p:sp>
        <p:nvSpPr>
          <p:cNvPr id="13" name="Text 9"/>
          <p:cNvSpPr/>
          <p:nvPr/>
        </p:nvSpPr>
        <p:spPr>
          <a:xfrm>
            <a:off x="4882896" y="2478024"/>
            <a:ext cx="2944368" cy="274320"/>
          </a:xfrm>
          <a:prstGeom prst="rect">
            <a:avLst/>
          </a:prstGeom>
          <a:noFill/>
          <a:ln/>
        </p:spPr>
        <p:txBody>
          <a:bodyPr wrap="square" lIns="0" tIns="0" rIns="0" bIns="0" rtlCol="0" anchor="ctr"/>
          <a:lstStyle/>
          <a:p>
            <a:pPr marL="0" indent="0">
              <a:buNone/>
            </a:pPr>
            <a:r>
              <a:rPr lang="en-US" sz="1200" b="1" kern="0" spc="200" dirty="0">
                <a:solidFill>
                  <a:srgbClr val="111827"/>
                </a:solidFill>
                <a:latin typeface="Inter" pitchFamily="34" charset="0"/>
                <a:ea typeface="Inter" pitchFamily="34" charset="-122"/>
                <a:cs typeface="Inter" pitchFamily="34" charset="-120"/>
              </a:rPr>
              <a:t>THE OPERATOR</a:t>
            </a:r>
            <a:endParaRPr lang="en-US" sz="1200" dirty="0"/>
          </a:p>
        </p:txBody>
      </p:sp>
      <p:sp>
        <p:nvSpPr>
          <p:cNvPr id="14" name="Text 10"/>
          <p:cNvSpPr/>
          <p:nvPr/>
        </p:nvSpPr>
        <p:spPr>
          <a:xfrm>
            <a:off x="4700016" y="2852928"/>
            <a:ext cx="3081528" cy="914400"/>
          </a:xfrm>
          <a:prstGeom prst="rect">
            <a:avLst/>
          </a:prstGeom>
          <a:noFill/>
          <a:ln/>
        </p:spPr>
        <p:txBody>
          <a:bodyPr wrap="square" lIns="0" tIns="0" rIns="0" bIns="0" rtlCol="0" anchor="ctr"/>
          <a:lstStyle/>
          <a:p>
            <a:pPr marL="0" indent="0">
              <a:lnSpc>
                <a:spcPct val="118000"/>
              </a:lnSpc>
              <a:buNone/>
            </a:pPr>
            <a:r>
              <a:rPr lang="en-US" sz="1150" dirty="0">
                <a:solidFill>
                  <a:srgbClr val="6B7280"/>
                </a:solidFill>
                <a:latin typeface="Inter" pitchFamily="34" charset="0"/>
                <a:ea typeface="Inter" pitchFamily="34" charset="-122"/>
                <a:cs typeface="Inter" pitchFamily="34" charset="-120"/>
              </a:rPr>
              <a:t>A BTP control room has limited officers and no objective way to decide where to send them. Deployment runs on gut-feel and radio chatter.</a:t>
            </a:r>
            <a:endParaRPr lang="en-US" sz="1150" dirty="0"/>
          </a:p>
        </p:txBody>
      </p:sp>
      <p:sp>
        <p:nvSpPr>
          <p:cNvPr id="15" name="Shape 11"/>
          <p:cNvSpPr/>
          <p:nvPr/>
        </p:nvSpPr>
        <p:spPr>
          <a:xfrm>
            <a:off x="8284464" y="1572768"/>
            <a:ext cx="3584448" cy="2286000"/>
          </a:xfrm>
          <a:prstGeom prst="roundRect">
            <a:avLst>
              <a:gd name="adj" fmla="val 2000"/>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6" name="Image 2" descr="preencoded.png"/>
          <p:cNvPicPr>
            <a:picLocks noChangeAspect="1"/>
          </p:cNvPicPr>
          <p:nvPr/>
        </p:nvPicPr>
        <p:blipFill>
          <a:blip r:embed="rId5"/>
          <a:stretch>
            <a:fillRect/>
          </a:stretch>
        </p:blipFill>
        <p:spPr>
          <a:xfrm>
            <a:off x="8558784" y="1828800"/>
            <a:ext cx="457200" cy="457200"/>
          </a:xfrm>
          <a:prstGeom prst="rect">
            <a:avLst/>
          </a:prstGeom>
        </p:spPr>
      </p:pic>
      <p:sp>
        <p:nvSpPr>
          <p:cNvPr id="17" name="Shape 12"/>
          <p:cNvSpPr/>
          <p:nvPr/>
        </p:nvSpPr>
        <p:spPr>
          <a:xfrm>
            <a:off x="8558784" y="2542032"/>
            <a:ext cx="91440" cy="91440"/>
          </a:xfrm>
          <a:prstGeom prst="rect">
            <a:avLst/>
          </a:prstGeom>
          <a:solidFill>
            <a:srgbClr val="DC2626"/>
          </a:solidFill>
          <a:ln/>
        </p:spPr>
        <p:txBody>
          <a:bodyPr/>
          <a:p/>
        </p:txBody>
      </p:sp>
      <p:sp>
        <p:nvSpPr>
          <p:cNvPr id="18" name="Text 13"/>
          <p:cNvSpPr/>
          <p:nvPr/>
        </p:nvSpPr>
        <p:spPr>
          <a:xfrm>
            <a:off x="8741664" y="2478024"/>
            <a:ext cx="2944368" cy="274320"/>
          </a:xfrm>
          <a:prstGeom prst="rect">
            <a:avLst/>
          </a:prstGeom>
          <a:noFill/>
          <a:ln/>
        </p:spPr>
        <p:txBody>
          <a:bodyPr wrap="square" lIns="0" tIns="0" rIns="0" bIns="0" rtlCol="0" anchor="ctr"/>
          <a:lstStyle/>
          <a:p>
            <a:pPr marL="0" indent="0">
              <a:buNone/>
            </a:pPr>
            <a:r>
              <a:rPr lang="en-US" sz="1200" b="1" kern="0" spc="200" dirty="0">
                <a:solidFill>
                  <a:srgbClr val="111827"/>
                </a:solidFill>
                <a:latin typeface="Inter" pitchFamily="34" charset="0"/>
                <a:ea typeface="Inter" pitchFamily="34" charset="-122"/>
                <a:cs typeface="Inter" pitchFamily="34" charset="-120"/>
              </a:rPr>
              <a:t>THE CONSEQUENCE</a:t>
            </a:r>
            <a:endParaRPr lang="en-US" sz="1200" dirty="0"/>
          </a:p>
        </p:txBody>
      </p:sp>
      <p:sp>
        <p:nvSpPr>
          <p:cNvPr id="19" name="Text 14"/>
          <p:cNvSpPr/>
          <p:nvPr/>
        </p:nvSpPr>
        <p:spPr>
          <a:xfrm>
            <a:off x="8558784" y="2852928"/>
            <a:ext cx="3081528" cy="914400"/>
          </a:xfrm>
          <a:prstGeom prst="rect">
            <a:avLst/>
          </a:prstGeom>
          <a:noFill/>
          <a:ln/>
        </p:spPr>
        <p:txBody>
          <a:bodyPr wrap="square" lIns="0" tIns="0" rIns="0" bIns="0" rtlCol="0" anchor="ctr"/>
          <a:lstStyle/>
          <a:p>
            <a:pPr marL="0" indent="0">
              <a:lnSpc>
                <a:spcPct val="118000"/>
              </a:lnSpc>
              <a:buNone/>
            </a:pPr>
            <a:r>
              <a:rPr lang="en-US" sz="1150" dirty="0">
                <a:solidFill>
                  <a:srgbClr val="6B7280"/>
                </a:solidFill>
                <a:latin typeface="Inter" pitchFamily="34" charset="0"/>
                <a:ea typeface="Inter" pitchFamily="34" charset="-122"/>
                <a:cs typeface="Inter" pitchFamily="34" charset="-120"/>
              </a:rPr>
              <a:t>Officers arrive late. One mismanaged junction cascades delay across the corridor — multiplying response time, fuel burn and risk.</a:t>
            </a:r>
            <a:endParaRPr lang="en-US" sz="1150" dirty="0"/>
          </a:p>
        </p:txBody>
      </p:sp>
      <p:sp>
        <p:nvSpPr>
          <p:cNvPr id="20" name="Shape 15"/>
          <p:cNvSpPr/>
          <p:nvPr/>
        </p:nvSpPr>
        <p:spPr>
          <a:xfrm>
            <a:off x="566928" y="4160520"/>
            <a:ext cx="11055096" cy="1828800"/>
          </a:xfrm>
          <a:prstGeom prst="roundRect">
            <a:avLst>
              <a:gd name="adj" fmla="val 2500"/>
            </a:avLst>
          </a:prstGeom>
          <a:solidFill>
            <a:srgbClr val="F9FAFB"/>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21" name="Text 16"/>
          <p:cNvSpPr/>
          <p:nvPr/>
        </p:nvSpPr>
        <p:spPr>
          <a:xfrm>
            <a:off x="868680" y="4315968"/>
            <a:ext cx="4023360" cy="1005840"/>
          </a:xfrm>
          <a:prstGeom prst="rect">
            <a:avLst/>
          </a:prstGeom>
          <a:noFill/>
          <a:ln/>
        </p:spPr>
        <p:txBody>
          <a:bodyPr wrap="square" lIns="0" tIns="0" rIns="0" bIns="0" rtlCol="0" anchor="ctr"/>
          <a:lstStyle/>
          <a:p>
            <a:pPr marL="0" indent="0">
              <a:buNone/>
            </a:pPr>
            <a:r>
              <a:rPr lang="en-US" sz="5400" b="1" dirty="0">
                <a:solidFill>
                  <a:srgbClr val="DC2626"/>
                </a:solidFill>
                <a:latin typeface="Consolas" pitchFamily="34" charset="0"/>
                <a:ea typeface="Consolas" pitchFamily="34" charset="-122"/>
                <a:cs typeface="Consolas" pitchFamily="34" charset="-120"/>
              </a:rPr>
              <a:t>₹90,000</a:t>
            </a:r>
            <a:endParaRPr lang="en-US" sz="5400" dirty="0"/>
          </a:p>
        </p:txBody>
      </p:sp>
      <p:sp>
        <p:nvSpPr>
          <p:cNvPr id="22" name="Text 17"/>
          <p:cNvSpPr/>
          <p:nvPr/>
        </p:nvSpPr>
        <p:spPr>
          <a:xfrm>
            <a:off x="896112" y="5285232"/>
            <a:ext cx="2743200"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Inter" pitchFamily="34" charset="0"/>
                <a:ea typeface="Inter" pitchFamily="34" charset="-122"/>
                <a:cs typeface="Inter" pitchFamily="34" charset="-120"/>
              </a:rPr>
              <a:t>CR / YEAR</a:t>
            </a:r>
            <a:endParaRPr lang="en-US" sz="1200" dirty="0"/>
          </a:p>
        </p:txBody>
      </p:sp>
      <p:sp>
        <p:nvSpPr>
          <p:cNvPr id="23" name="Shape 18"/>
          <p:cNvSpPr/>
          <p:nvPr/>
        </p:nvSpPr>
        <p:spPr>
          <a:xfrm>
            <a:off x="5166360" y="4434840"/>
            <a:ext cx="0" cy="1280160"/>
          </a:xfrm>
          <a:prstGeom prst="line">
            <a:avLst/>
          </a:prstGeom>
          <a:noFill/>
          <a:ln w="12700">
            <a:solidFill>
              <a:srgbClr val="E5E7EB"/>
            </a:solidFill>
            <a:prstDash val="solid"/>
          </a:ln>
        </p:spPr>
        <p:txBody>
          <a:bodyPr/>
          <a:p/>
        </p:txBody>
      </p:sp>
      <p:sp>
        <p:nvSpPr>
          <p:cNvPr id="24" name="Text 19"/>
          <p:cNvSpPr/>
          <p:nvPr/>
        </p:nvSpPr>
        <p:spPr>
          <a:xfrm>
            <a:off x="5486400" y="4370832"/>
            <a:ext cx="5852160" cy="105156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Inter" pitchFamily="34" charset="0"/>
                <a:ea typeface="Inter" pitchFamily="34" charset="-122"/>
                <a:cs typeface="Inter" pitchFamily="34" charset="-120"/>
              </a:rPr>
              <a:t>Projected annual cost of traffic congestion in Delhi by 2030.</a:t>
            </a:r>
            <a:endParaRPr lang="en-US" sz="1350" dirty="0"/>
          </a:p>
          <a:p>
            <a:pPr marL="0" indent="0">
              <a:lnSpc>
                <a:spcPct val="120000"/>
              </a:lnSpc>
              <a:buNone/>
            </a:pPr>
            <a:r>
              <a:rPr lang="en-US" sz="1350" dirty="0">
                <a:solidFill>
                  <a:srgbClr val="6B7280"/>
                </a:solidFill>
                <a:latin typeface="Inter" pitchFamily="34" charset="0"/>
                <a:ea typeface="Inter" pitchFamily="34" charset="-122"/>
                <a:cs typeface="Inter" pitchFamily="34" charset="-120"/>
              </a:rPr>
              <a:t>Up from ≈ ₹54,000 cr in 2013 — the gap Atlas is built to close by acting before congestion forms, not after.</a:t>
            </a:r>
            <a:endParaRPr lang="en-US" sz="1350" dirty="0"/>
          </a:p>
        </p:txBody>
      </p:sp>
      <p:sp>
        <p:nvSpPr>
          <p:cNvPr id="25" name="Text 20"/>
          <p:cNvSpPr/>
          <p:nvPr/>
        </p:nvSpPr>
        <p:spPr>
          <a:xfrm>
            <a:off x="5486400" y="5504688"/>
            <a:ext cx="5852160" cy="274320"/>
          </a:xfrm>
          <a:prstGeom prst="rect">
            <a:avLst/>
          </a:prstGeom>
          <a:noFill/>
          <a:ln/>
        </p:spPr>
        <p:txBody>
          <a:bodyPr wrap="square" lIns="0" tIns="0" rIns="0" bIns="0" rtlCol="0" anchor="ctr"/>
          <a:lstStyle/>
          <a:p>
            <a:pPr marL="0" indent="0">
              <a:buNone/>
            </a:pPr>
            <a:r>
              <a:rPr lang="en-US" sz="850" dirty="0">
                <a:solidFill>
                  <a:srgbClr val="9CA3AF"/>
                </a:solidFill>
                <a:latin typeface="Consolas" pitchFamily="34" charset="0"/>
                <a:ea typeface="Consolas" pitchFamily="34" charset="-122"/>
                <a:cs typeface="Consolas" pitchFamily="34" charset="-120"/>
              </a:rPr>
              <a:t>SOURCE: IIT MADRAS CONGESTION-COST STUDY (VIA CSE INDIA)</a:t>
            </a:r>
            <a:endParaRPr lang="en-US" sz="850" dirty="0"/>
          </a:p>
        </p:txBody>
      </p:sp>
      <p:sp>
        <p:nvSpPr>
          <p:cNvPr id="26" name="Text 21"/>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sp>
        <p:nvSpPr>
          <p:cNvPr id="27" name="Text 22"/>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02 / 11</a:t>
            </a:r>
          </a:p>
        </p:txBody>
      </p:sp>
      <p:pic>
        <p:nvPicPr>
          <p:cNvPr id="28" name="Picture 27" descr="A black and white logo&#10;&#10;AI-generated content may be incorrect.">
            <a:extLst>
              <a:ext uri="{FF2B5EF4-FFF2-40B4-BE49-F238E27FC236}">
                <a16:creationId xmlns:a16="http://schemas.microsoft.com/office/drawing/2014/main" id="{2B7CFE56-0450-A3BA-CED8-39FF11D05F1C}"/>
              </a:ext>
            </a:extLst>
          </p:cNvPr>
          <p:cNvPicPr>
            <a:picLocks noChangeAspect="1"/>
          </p:cNvPicPr>
          <p:nvPr/>
        </p:nvPicPr>
        <p:blipFill>
          <a:blip r:embed="rId6"/>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02 · THE SOLUTION</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One pipeline, run before the congestion happens</a:t>
            </a:r>
            <a:endParaRPr lang="en-US" sz="2900" dirty="0"/>
          </a:p>
        </p:txBody>
      </p:sp>
      <p:sp>
        <p:nvSpPr>
          <p:cNvPr id="5" name="Shape 3"/>
          <p:cNvSpPr/>
          <p:nvPr/>
        </p:nvSpPr>
        <p:spPr>
          <a:xfrm>
            <a:off x="566928" y="1828800"/>
            <a:ext cx="2084832" cy="2880360"/>
          </a:xfrm>
          <a:prstGeom prst="roundRect">
            <a:avLst>
              <a:gd name="adj" fmla="val 2193"/>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6" name="Text 4"/>
          <p:cNvSpPr/>
          <p:nvPr/>
        </p:nvSpPr>
        <p:spPr>
          <a:xfrm>
            <a:off x="768096" y="2029968"/>
            <a:ext cx="914400" cy="320040"/>
          </a:xfrm>
          <a:prstGeom prst="rect">
            <a:avLst/>
          </a:prstGeom>
          <a:noFill/>
          <a:ln/>
        </p:spPr>
        <p:txBody>
          <a:bodyPr wrap="square" lIns="0" tIns="0" rIns="0" bIns="0" rtlCol="0" anchor="ctr"/>
          <a:lstStyle/>
          <a:p>
            <a:pPr marL="0" indent="0">
              <a:buNone/>
            </a:pPr>
            <a:r>
              <a:rPr lang="en-US" sz="1300" b="1" dirty="0">
                <a:solidFill>
                  <a:srgbClr val="9CA3AF"/>
                </a:solidFill>
                <a:latin typeface="Consolas" pitchFamily="34" charset="0"/>
                <a:ea typeface="Consolas" pitchFamily="34" charset="-122"/>
                <a:cs typeface="Consolas" pitchFamily="34" charset="-120"/>
              </a:rPr>
              <a:t>01</a:t>
            </a:r>
            <a:endParaRPr lang="en-US" sz="1300" dirty="0"/>
          </a:p>
        </p:txBody>
      </p:sp>
      <p:pic>
        <p:nvPicPr>
          <p:cNvPr id="7" name="Image 0" descr="preencoded.png"/>
          <p:cNvPicPr>
            <a:picLocks noChangeAspect="1"/>
          </p:cNvPicPr>
          <p:nvPr/>
        </p:nvPicPr>
        <p:blipFill>
          <a:blip r:embed="rId3"/>
          <a:stretch>
            <a:fillRect/>
          </a:stretch>
        </p:blipFill>
        <p:spPr>
          <a:xfrm>
            <a:off x="768096" y="2468880"/>
            <a:ext cx="475488" cy="475488"/>
          </a:xfrm>
          <a:prstGeom prst="rect">
            <a:avLst/>
          </a:prstGeom>
        </p:spPr>
      </p:pic>
      <p:sp>
        <p:nvSpPr>
          <p:cNvPr id="8" name="Shape 5"/>
          <p:cNvSpPr/>
          <p:nvPr/>
        </p:nvSpPr>
        <p:spPr>
          <a:xfrm>
            <a:off x="768096" y="3218688"/>
            <a:ext cx="82296" cy="82296"/>
          </a:xfrm>
          <a:prstGeom prst="rect">
            <a:avLst/>
          </a:prstGeom>
          <a:solidFill>
            <a:srgbClr val="C2785F"/>
          </a:solidFill>
          <a:ln/>
        </p:spPr>
        <p:txBody>
          <a:bodyPr/>
          <a:p/>
        </p:txBody>
      </p:sp>
      <p:sp>
        <p:nvSpPr>
          <p:cNvPr id="9" name="Text 6"/>
          <p:cNvSpPr/>
          <p:nvPr/>
        </p:nvSpPr>
        <p:spPr>
          <a:xfrm>
            <a:off x="932688" y="3145536"/>
            <a:ext cx="1581912" cy="292608"/>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Raw data</a:t>
            </a:r>
            <a:endParaRPr lang="en-US" sz="1450" dirty="0"/>
          </a:p>
        </p:txBody>
      </p:sp>
      <p:sp>
        <p:nvSpPr>
          <p:cNvPr id="10" name="Text 7"/>
          <p:cNvSpPr/>
          <p:nvPr/>
        </p:nvSpPr>
        <p:spPr>
          <a:xfrm>
            <a:off x="768096" y="3529584"/>
            <a:ext cx="1700784" cy="1005840"/>
          </a:xfrm>
          <a:prstGeom prst="rect">
            <a:avLst/>
          </a:prstGeom>
          <a:noFill/>
          <a:ln/>
        </p:spPr>
        <p:txBody>
          <a:bodyPr wrap="square" lIns="0" tIns="0" rIns="0" bIns="0" rtlCol="0" anchor="ctr"/>
          <a:lstStyle/>
          <a:p>
            <a:pPr marL="0" indent="0">
              <a:lnSpc>
                <a:spcPct val="116000"/>
              </a:lnSpc>
              <a:buNone/>
            </a:pPr>
            <a:r>
              <a:rPr lang="en-US" sz="1050" dirty="0">
                <a:solidFill>
                  <a:srgbClr val="6B7280"/>
                </a:solidFill>
                <a:latin typeface="Inter" pitchFamily="34" charset="0"/>
                <a:ea typeface="Inter" pitchFamily="34" charset="-122"/>
                <a:cs typeface="Inter" pitchFamily="34" charset="-120"/>
              </a:rPr>
              <a:t>Violations, road type, lanes, weather &amp; logistics hubs per junction and time window.</a:t>
            </a:r>
            <a:endParaRPr lang="en-US" sz="1050" dirty="0"/>
          </a:p>
        </p:txBody>
      </p:sp>
      <p:sp>
        <p:nvSpPr>
          <p:cNvPr id="11" name="Text 8"/>
          <p:cNvSpPr/>
          <p:nvPr/>
        </p:nvSpPr>
        <p:spPr>
          <a:xfrm>
            <a:off x="2624328" y="1828800"/>
            <a:ext cx="246888" cy="2880360"/>
          </a:xfrm>
          <a:prstGeom prst="rect">
            <a:avLst/>
          </a:prstGeom>
          <a:noFill/>
          <a:ln/>
        </p:spPr>
        <p:txBody>
          <a:bodyPr wrap="square" lIns="0" tIns="0" rIns="0" bIns="0" rtlCol="0" anchor="ctr"/>
          <a:lstStyle/>
          <a:p>
            <a:pPr marL="0" indent="0" algn="ctr">
              <a:buNone/>
            </a:pPr>
            <a:r>
              <a:rPr lang="en-US" sz="1600" b="1" dirty="0">
                <a:solidFill>
                  <a:srgbClr val="9CA3AF"/>
                </a:solidFill>
                <a:latin typeface="Inter" pitchFamily="34" charset="0"/>
                <a:ea typeface="Inter" pitchFamily="34" charset="-122"/>
                <a:cs typeface="Inter" pitchFamily="34" charset="-120"/>
              </a:rPr>
              <a:t>→</a:t>
            </a:r>
            <a:endParaRPr lang="en-US" sz="1600" dirty="0"/>
          </a:p>
        </p:txBody>
      </p:sp>
      <p:sp>
        <p:nvSpPr>
          <p:cNvPr id="12" name="Shape 9"/>
          <p:cNvSpPr/>
          <p:nvPr/>
        </p:nvSpPr>
        <p:spPr>
          <a:xfrm>
            <a:off x="2843784" y="1828800"/>
            <a:ext cx="2084832" cy="2880360"/>
          </a:xfrm>
          <a:prstGeom prst="roundRect">
            <a:avLst>
              <a:gd name="adj" fmla="val 2193"/>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13" name="Text 10"/>
          <p:cNvSpPr/>
          <p:nvPr/>
        </p:nvSpPr>
        <p:spPr>
          <a:xfrm>
            <a:off x="3044952" y="2029968"/>
            <a:ext cx="914400" cy="320040"/>
          </a:xfrm>
          <a:prstGeom prst="rect">
            <a:avLst/>
          </a:prstGeom>
          <a:noFill/>
          <a:ln/>
        </p:spPr>
        <p:txBody>
          <a:bodyPr wrap="square" lIns="0" tIns="0" rIns="0" bIns="0" rtlCol="0" anchor="ctr"/>
          <a:lstStyle/>
          <a:p>
            <a:pPr marL="0" indent="0">
              <a:buNone/>
            </a:pPr>
            <a:r>
              <a:rPr lang="en-US" sz="1300" b="1" dirty="0">
                <a:solidFill>
                  <a:srgbClr val="9CA3AF"/>
                </a:solidFill>
                <a:latin typeface="Consolas" pitchFamily="34" charset="0"/>
                <a:ea typeface="Consolas" pitchFamily="34" charset="-122"/>
                <a:cs typeface="Consolas" pitchFamily="34" charset="-120"/>
              </a:rPr>
              <a:t>02</a:t>
            </a:r>
            <a:endParaRPr lang="en-US" sz="1300" dirty="0"/>
          </a:p>
        </p:txBody>
      </p:sp>
      <p:pic>
        <p:nvPicPr>
          <p:cNvPr id="14" name="Image 1" descr="preencoded.png"/>
          <p:cNvPicPr>
            <a:picLocks noChangeAspect="1"/>
          </p:cNvPicPr>
          <p:nvPr/>
        </p:nvPicPr>
        <p:blipFill>
          <a:blip r:embed="rId4"/>
          <a:stretch>
            <a:fillRect/>
          </a:stretch>
        </p:blipFill>
        <p:spPr>
          <a:xfrm>
            <a:off x="3044952" y="2468880"/>
            <a:ext cx="475488" cy="475488"/>
          </a:xfrm>
          <a:prstGeom prst="rect">
            <a:avLst/>
          </a:prstGeom>
        </p:spPr>
      </p:pic>
      <p:sp>
        <p:nvSpPr>
          <p:cNvPr id="15" name="Shape 11"/>
          <p:cNvSpPr/>
          <p:nvPr/>
        </p:nvSpPr>
        <p:spPr>
          <a:xfrm>
            <a:off x="3044952" y="3218688"/>
            <a:ext cx="82296" cy="82296"/>
          </a:xfrm>
          <a:prstGeom prst="rect">
            <a:avLst/>
          </a:prstGeom>
          <a:solidFill>
            <a:srgbClr val="C2785F"/>
          </a:solidFill>
          <a:ln/>
        </p:spPr>
        <p:txBody>
          <a:bodyPr/>
          <a:p/>
        </p:txBody>
      </p:sp>
      <p:sp>
        <p:nvSpPr>
          <p:cNvPr id="16" name="Text 12"/>
          <p:cNvSpPr/>
          <p:nvPr/>
        </p:nvSpPr>
        <p:spPr>
          <a:xfrm>
            <a:off x="3209544" y="3145536"/>
            <a:ext cx="1581912" cy="292608"/>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Corridor snapping</a:t>
            </a:r>
            <a:endParaRPr lang="en-US" sz="1450" dirty="0"/>
          </a:p>
        </p:txBody>
      </p:sp>
      <p:sp>
        <p:nvSpPr>
          <p:cNvPr id="17" name="Text 13"/>
          <p:cNvSpPr/>
          <p:nvPr/>
        </p:nvSpPr>
        <p:spPr>
          <a:xfrm>
            <a:off x="3044952" y="3529584"/>
            <a:ext cx="1700784" cy="1005840"/>
          </a:xfrm>
          <a:prstGeom prst="rect">
            <a:avLst/>
          </a:prstGeom>
          <a:noFill/>
          <a:ln/>
        </p:spPr>
        <p:txBody>
          <a:bodyPr wrap="square" lIns="0" tIns="0" rIns="0" bIns="0" rtlCol="0" anchor="ctr"/>
          <a:lstStyle/>
          <a:p>
            <a:pPr marL="0" indent="0">
              <a:lnSpc>
                <a:spcPct val="116000"/>
              </a:lnSpc>
              <a:buNone/>
            </a:pPr>
            <a:r>
              <a:rPr lang="en-US" sz="1050" dirty="0">
                <a:solidFill>
                  <a:srgbClr val="6B7280"/>
                </a:solidFill>
                <a:latin typeface="Inter" pitchFamily="34" charset="0"/>
                <a:ea typeface="Inter" pitchFamily="34" charset="-122"/>
                <a:cs typeface="Inter" pitchFamily="34" charset="-120"/>
              </a:rPr>
              <a:t>Cleanse noisy points and snap them onto real Bengaluru road corridors.</a:t>
            </a:r>
            <a:endParaRPr lang="en-US" sz="1050" dirty="0"/>
          </a:p>
        </p:txBody>
      </p:sp>
      <p:sp>
        <p:nvSpPr>
          <p:cNvPr id="18" name="Text 14"/>
          <p:cNvSpPr/>
          <p:nvPr/>
        </p:nvSpPr>
        <p:spPr>
          <a:xfrm>
            <a:off x="4901184" y="1828800"/>
            <a:ext cx="246888" cy="2880360"/>
          </a:xfrm>
          <a:prstGeom prst="rect">
            <a:avLst/>
          </a:prstGeom>
          <a:noFill/>
          <a:ln/>
        </p:spPr>
        <p:txBody>
          <a:bodyPr wrap="square" lIns="0" tIns="0" rIns="0" bIns="0" rtlCol="0" anchor="ctr"/>
          <a:lstStyle/>
          <a:p>
            <a:pPr marL="0" indent="0" algn="ctr">
              <a:buNone/>
            </a:pPr>
            <a:r>
              <a:rPr lang="en-US" sz="1600" b="1" dirty="0">
                <a:solidFill>
                  <a:srgbClr val="9CA3AF"/>
                </a:solidFill>
                <a:latin typeface="Inter" pitchFamily="34" charset="0"/>
                <a:ea typeface="Inter" pitchFamily="34" charset="-122"/>
                <a:cs typeface="Inter" pitchFamily="34" charset="-120"/>
              </a:rPr>
              <a:t>→</a:t>
            </a:r>
            <a:endParaRPr lang="en-US" sz="1600" dirty="0"/>
          </a:p>
        </p:txBody>
      </p:sp>
      <p:sp>
        <p:nvSpPr>
          <p:cNvPr id="19" name="Shape 15"/>
          <p:cNvSpPr/>
          <p:nvPr/>
        </p:nvSpPr>
        <p:spPr>
          <a:xfrm>
            <a:off x="5120640" y="1828800"/>
            <a:ext cx="2084832" cy="2880360"/>
          </a:xfrm>
          <a:prstGeom prst="roundRect">
            <a:avLst>
              <a:gd name="adj" fmla="val 2193"/>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20" name="Text 16"/>
          <p:cNvSpPr/>
          <p:nvPr/>
        </p:nvSpPr>
        <p:spPr>
          <a:xfrm>
            <a:off x="5321808" y="2029968"/>
            <a:ext cx="914400" cy="320040"/>
          </a:xfrm>
          <a:prstGeom prst="rect">
            <a:avLst/>
          </a:prstGeom>
          <a:noFill/>
          <a:ln/>
        </p:spPr>
        <p:txBody>
          <a:bodyPr wrap="square" lIns="0" tIns="0" rIns="0" bIns="0" rtlCol="0" anchor="ctr"/>
          <a:lstStyle/>
          <a:p>
            <a:pPr marL="0" indent="0">
              <a:buNone/>
            </a:pPr>
            <a:r>
              <a:rPr lang="en-US" sz="1300" b="1" dirty="0">
                <a:solidFill>
                  <a:srgbClr val="9CA3AF"/>
                </a:solidFill>
                <a:latin typeface="Consolas" pitchFamily="34" charset="0"/>
                <a:ea typeface="Consolas" pitchFamily="34" charset="-122"/>
                <a:cs typeface="Consolas" pitchFamily="34" charset="-120"/>
              </a:rPr>
              <a:t>03</a:t>
            </a:r>
            <a:endParaRPr lang="en-US" sz="1300" dirty="0"/>
          </a:p>
        </p:txBody>
      </p:sp>
      <p:pic>
        <p:nvPicPr>
          <p:cNvPr id="21" name="Image 2" descr="preencoded.png"/>
          <p:cNvPicPr>
            <a:picLocks noChangeAspect="1"/>
          </p:cNvPicPr>
          <p:nvPr/>
        </p:nvPicPr>
        <p:blipFill>
          <a:blip r:embed="rId5"/>
          <a:stretch>
            <a:fillRect/>
          </a:stretch>
        </p:blipFill>
        <p:spPr>
          <a:xfrm>
            <a:off x="5321808" y="2468880"/>
            <a:ext cx="475488" cy="475488"/>
          </a:xfrm>
          <a:prstGeom prst="rect">
            <a:avLst/>
          </a:prstGeom>
        </p:spPr>
      </p:pic>
      <p:sp>
        <p:nvSpPr>
          <p:cNvPr id="22" name="Shape 17"/>
          <p:cNvSpPr/>
          <p:nvPr/>
        </p:nvSpPr>
        <p:spPr>
          <a:xfrm>
            <a:off x="5321808" y="3218688"/>
            <a:ext cx="82296" cy="82296"/>
          </a:xfrm>
          <a:prstGeom prst="rect">
            <a:avLst/>
          </a:prstGeom>
          <a:solidFill>
            <a:srgbClr val="C2785F"/>
          </a:solidFill>
          <a:ln/>
        </p:spPr>
        <p:txBody>
          <a:bodyPr/>
          <a:p/>
        </p:txBody>
      </p:sp>
      <p:sp>
        <p:nvSpPr>
          <p:cNvPr id="23" name="Text 18"/>
          <p:cNvSpPr/>
          <p:nvPr/>
        </p:nvSpPr>
        <p:spPr>
          <a:xfrm>
            <a:off x="5486400" y="3145536"/>
            <a:ext cx="1581912" cy="292608"/>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Forecast</a:t>
            </a:r>
            <a:endParaRPr lang="en-US" sz="1450" dirty="0"/>
          </a:p>
        </p:txBody>
      </p:sp>
      <p:sp>
        <p:nvSpPr>
          <p:cNvPr id="24" name="Text 19"/>
          <p:cNvSpPr/>
          <p:nvPr/>
        </p:nvSpPr>
        <p:spPr>
          <a:xfrm>
            <a:off x="5321808" y="3529584"/>
            <a:ext cx="1700784" cy="1005840"/>
          </a:xfrm>
          <a:prstGeom prst="rect">
            <a:avLst/>
          </a:prstGeom>
          <a:noFill/>
          <a:ln/>
        </p:spPr>
        <p:txBody>
          <a:bodyPr wrap="square" lIns="0" tIns="0" rIns="0" bIns="0" rtlCol="0" anchor="ctr"/>
          <a:lstStyle/>
          <a:p>
            <a:pPr marL="0" indent="0">
              <a:lnSpc>
                <a:spcPct val="116000"/>
              </a:lnSpc>
              <a:buNone/>
            </a:pPr>
            <a:r>
              <a:rPr lang="en-US" sz="1050" dirty="0">
                <a:solidFill>
                  <a:srgbClr val="6B7280"/>
                </a:solidFill>
                <a:latin typeface="Inter" pitchFamily="34" charset="0"/>
                <a:ea typeface="Inter" pitchFamily="34" charset="-122"/>
                <a:cs typeface="Inter" pitchFamily="34" charset="-120"/>
              </a:rPr>
              <a:t>ST-GATv2 spatiotemporal graph model predicts demand &amp; risk for the next window.</a:t>
            </a:r>
            <a:endParaRPr lang="en-US" sz="1050" dirty="0"/>
          </a:p>
        </p:txBody>
      </p:sp>
      <p:sp>
        <p:nvSpPr>
          <p:cNvPr id="25" name="Text 20"/>
          <p:cNvSpPr/>
          <p:nvPr/>
        </p:nvSpPr>
        <p:spPr>
          <a:xfrm>
            <a:off x="7178040" y="1828800"/>
            <a:ext cx="246888" cy="2880360"/>
          </a:xfrm>
          <a:prstGeom prst="rect">
            <a:avLst/>
          </a:prstGeom>
          <a:noFill/>
          <a:ln/>
        </p:spPr>
        <p:txBody>
          <a:bodyPr wrap="square" lIns="0" tIns="0" rIns="0" bIns="0" rtlCol="0" anchor="ctr"/>
          <a:lstStyle/>
          <a:p>
            <a:pPr marL="0" indent="0" algn="ctr">
              <a:buNone/>
            </a:pPr>
            <a:r>
              <a:rPr lang="en-US" sz="1600" b="1" dirty="0">
                <a:solidFill>
                  <a:srgbClr val="9CA3AF"/>
                </a:solidFill>
                <a:latin typeface="Inter" pitchFamily="34" charset="0"/>
                <a:ea typeface="Inter" pitchFamily="34" charset="-122"/>
                <a:cs typeface="Inter" pitchFamily="34" charset="-120"/>
              </a:rPr>
              <a:t>→</a:t>
            </a:r>
            <a:endParaRPr lang="en-US" sz="1600" dirty="0"/>
          </a:p>
        </p:txBody>
      </p:sp>
      <p:sp>
        <p:nvSpPr>
          <p:cNvPr id="26" name="Shape 21"/>
          <p:cNvSpPr/>
          <p:nvPr/>
        </p:nvSpPr>
        <p:spPr>
          <a:xfrm>
            <a:off x="7397496" y="1828800"/>
            <a:ext cx="2084832" cy="2880360"/>
          </a:xfrm>
          <a:prstGeom prst="roundRect">
            <a:avLst>
              <a:gd name="adj" fmla="val 2193"/>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27" name="Text 22"/>
          <p:cNvSpPr/>
          <p:nvPr/>
        </p:nvSpPr>
        <p:spPr>
          <a:xfrm>
            <a:off x="7598664" y="2029968"/>
            <a:ext cx="914400" cy="320040"/>
          </a:xfrm>
          <a:prstGeom prst="rect">
            <a:avLst/>
          </a:prstGeom>
          <a:noFill/>
          <a:ln/>
        </p:spPr>
        <p:txBody>
          <a:bodyPr wrap="square" lIns="0" tIns="0" rIns="0" bIns="0" rtlCol="0" anchor="ctr"/>
          <a:lstStyle/>
          <a:p>
            <a:pPr marL="0" indent="0">
              <a:buNone/>
            </a:pPr>
            <a:r>
              <a:rPr lang="en-US" sz="1300" b="1" dirty="0">
                <a:solidFill>
                  <a:srgbClr val="9CA3AF"/>
                </a:solidFill>
                <a:latin typeface="Consolas" pitchFamily="34" charset="0"/>
                <a:ea typeface="Consolas" pitchFamily="34" charset="-122"/>
                <a:cs typeface="Consolas" pitchFamily="34" charset="-120"/>
              </a:rPr>
              <a:t>04</a:t>
            </a:r>
            <a:endParaRPr lang="en-US" sz="1300" dirty="0"/>
          </a:p>
        </p:txBody>
      </p:sp>
      <p:pic>
        <p:nvPicPr>
          <p:cNvPr id="28" name="Image 3" descr="preencoded.png"/>
          <p:cNvPicPr>
            <a:picLocks noChangeAspect="1"/>
          </p:cNvPicPr>
          <p:nvPr/>
        </p:nvPicPr>
        <p:blipFill>
          <a:blip r:embed="rId6"/>
          <a:stretch>
            <a:fillRect/>
          </a:stretch>
        </p:blipFill>
        <p:spPr>
          <a:xfrm>
            <a:off x="7598664" y="2468880"/>
            <a:ext cx="475488" cy="475488"/>
          </a:xfrm>
          <a:prstGeom prst="rect">
            <a:avLst/>
          </a:prstGeom>
        </p:spPr>
      </p:pic>
      <p:sp>
        <p:nvSpPr>
          <p:cNvPr id="29" name="Shape 23"/>
          <p:cNvSpPr/>
          <p:nvPr/>
        </p:nvSpPr>
        <p:spPr>
          <a:xfrm>
            <a:off x="7598664" y="3218688"/>
            <a:ext cx="82296" cy="82296"/>
          </a:xfrm>
          <a:prstGeom prst="rect">
            <a:avLst/>
          </a:prstGeom>
          <a:solidFill>
            <a:srgbClr val="C2785F"/>
          </a:solidFill>
          <a:ln/>
        </p:spPr>
        <p:txBody>
          <a:bodyPr/>
          <a:p/>
        </p:txBody>
      </p:sp>
      <p:sp>
        <p:nvSpPr>
          <p:cNvPr id="30" name="Text 24"/>
          <p:cNvSpPr/>
          <p:nvPr/>
        </p:nvSpPr>
        <p:spPr>
          <a:xfrm>
            <a:off x="7763256" y="3145536"/>
            <a:ext cx="1581912" cy="292608"/>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Cluster</a:t>
            </a:r>
            <a:endParaRPr lang="en-US" sz="1450" dirty="0"/>
          </a:p>
        </p:txBody>
      </p:sp>
      <p:sp>
        <p:nvSpPr>
          <p:cNvPr id="31" name="Text 25"/>
          <p:cNvSpPr/>
          <p:nvPr/>
        </p:nvSpPr>
        <p:spPr>
          <a:xfrm>
            <a:off x="7598664" y="3529584"/>
            <a:ext cx="1700784" cy="1005840"/>
          </a:xfrm>
          <a:prstGeom prst="rect">
            <a:avLst/>
          </a:prstGeom>
          <a:noFill/>
          <a:ln/>
        </p:spPr>
        <p:txBody>
          <a:bodyPr wrap="square" lIns="0" tIns="0" rIns="0" bIns="0" rtlCol="0" anchor="ctr"/>
          <a:lstStyle/>
          <a:p>
            <a:pPr marL="0" indent="0">
              <a:lnSpc>
                <a:spcPct val="116000"/>
              </a:lnSpc>
              <a:buNone/>
            </a:pPr>
            <a:r>
              <a:rPr lang="en-US" sz="1050" dirty="0">
                <a:solidFill>
                  <a:srgbClr val="6B7280"/>
                </a:solidFill>
                <a:latin typeface="Inter" pitchFamily="34" charset="0"/>
                <a:ea typeface="Inter" pitchFamily="34" charset="-122"/>
                <a:cs typeface="Inter" pitchFamily="34" charset="-120"/>
              </a:rPr>
              <a:t>GIS kernel-density clustering groups hotspots into deployable zones.</a:t>
            </a:r>
            <a:endParaRPr lang="en-US" sz="1050" dirty="0"/>
          </a:p>
        </p:txBody>
      </p:sp>
      <p:sp>
        <p:nvSpPr>
          <p:cNvPr id="32" name="Text 26"/>
          <p:cNvSpPr/>
          <p:nvPr/>
        </p:nvSpPr>
        <p:spPr>
          <a:xfrm>
            <a:off x="9454896" y="1828800"/>
            <a:ext cx="246888" cy="2880360"/>
          </a:xfrm>
          <a:prstGeom prst="rect">
            <a:avLst/>
          </a:prstGeom>
          <a:noFill/>
          <a:ln/>
        </p:spPr>
        <p:txBody>
          <a:bodyPr wrap="square" lIns="0" tIns="0" rIns="0" bIns="0" rtlCol="0" anchor="ctr"/>
          <a:lstStyle/>
          <a:p>
            <a:pPr marL="0" indent="0" algn="ctr">
              <a:buNone/>
            </a:pPr>
            <a:r>
              <a:rPr lang="en-US" sz="1600" b="1" dirty="0">
                <a:solidFill>
                  <a:srgbClr val="9CA3AF"/>
                </a:solidFill>
                <a:latin typeface="Inter" pitchFamily="34" charset="0"/>
                <a:ea typeface="Inter" pitchFamily="34" charset="-122"/>
                <a:cs typeface="Inter" pitchFamily="34" charset="-120"/>
              </a:rPr>
              <a:t>→</a:t>
            </a:r>
            <a:endParaRPr lang="en-US" sz="1600" dirty="0"/>
          </a:p>
        </p:txBody>
      </p:sp>
      <p:sp>
        <p:nvSpPr>
          <p:cNvPr id="33" name="Shape 27"/>
          <p:cNvSpPr/>
          <p:nvPr/>
        </p:nvSpPr>
        <p:spPr>
          <a:xfrm>
            <a:off x="9674352" y="1828800"/>
            <a:ext cx="2084832" cy="2880360"/>
          </a:xfrm>
          <a:prstGeom prst="roundRect">
            <a:avLst>
              <a:gd name="adj" fmla="val 2193"/>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34" name="Text 28"/>
          <p:cNvSpPr/>
          <p:nvPr/>
        </p:nvSpPr>
        <p:spPr>
          <a:xfrm>
            <a:off x="9875520" y="2029968"/>
            <a:ext cx="914400" cy="320040"/>
          </a:xfrm>
          <a:prstGeom prst="rect">
            <a:avLst/>
          </a:prstGeom>
          <a:noFill/>
          <a:ln/>
        </p:spPr>
        <p:txBody>
          <a:bodyPr wrap="square" lIns="0" tIns="0" rIns="0" bIns="0" rtlCol="0" anchor="ctr"/>
          <a:lstStyle/>
          <a:p>
            <a:pPr marL="0" indent="0">
              <a:buNone/>
            </a:pPr>
            <a:r>
              <a:rPr lang="en-US" sz="1300" b="1" dirty="0">
                <a:solidFill>
                  <a:srgbClr val="9CA3AF"/>
                </a:solidFill>
                <a:latin typeface="Consolas" pitchFamily="34" charset="0"/>
                <a:ea typeface="Consolas" pitchFamily="34" charset="-122"/>
                <a:cs typeface="Consolas" pitchFamily="34" charset="-120"/>
              </a:rPr>
              <a:t>05</a:t>
            </a:r>
            <a:endParaRPr lang="en-US" sz="1300" dirty="0"/>
          </a:p>
        </p:txBody>
      </p:sp>
      <p:pic>
        <p:nvPicPr>
          <p:cNvPr id="35" name="Image 4" descr="preencoded.png"/>
          <p:cNvPicPr>
            <a:picLocks noChangeAspect="1"/>
          </p:cNvPicPr>
          <p:nvPr/>
        </p:nvPicPr>
        <p:blipFill>
          <a:blip r:embed="rId7"/>
          <a:stretch>
            <a:fillRect/>
          </a:stretch>
        </p:blipFill>
        <p:spPr>
          <a:xfrm>
            <a:off x="9875520" y="2468880"/>
            <a:ext cx="475488" cy="475488"/>
          </a:xfrm>
          <a:prstGeom prst="rect">
            <a:avLst/>
          </a:prstGeom>
        </p:spPr>
      </p:pic>
      <p:sp>
        <p:nvSpPr>
          <p:cNvPr id="36" name="Shape 29"/>
          <p:cNvSpPr/>
          <p:nvPr/>
        </p:nvSpPr>
        <p:spPr>
          <a:xfrm>
            <a:off x="9875520" y="3218688"/>
            <a:ext cx="82296" cy="82296"/>
          </a:xfrm>
          <a:prstGeom prst="rect">
            <a:avLst/>
          </a:prstGeom>
          <a:solidFill>
            <a:srgbClr val="C2785F"/>
          </a:solidFill>
          <a:ln/>
        </p:spPr>
        <p:txBody>
          <a:bodyPr/>
          <a:p/>
        </p:txBody>
      </p:sp>
      <p:sp>
        <p:nvSpPr>
          <p:cNvPr id="37" name="Text 30"/>
          <p:cNvSpPr/>
          <p:nvPr/>
        </p:nvSpPr>
        <p:spPr>
          <a:xfrm>
            <a:off x="10040112" y="3145536"/>
            <a:ext cx="1581912" cy="292608"/>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Dispatch</a:t>
            </a:r>
            <a:endParaRPr lang="en-US" sz="1450" dirty="0"/>
          </a:p>
        </p:txBody>
      </p:sp>
      <p:sp>
        <p:nvSpPr>
          <p:cNvPr id="38" name="Text 31"/>
          <p:cNvSpPr/>
          <p:nvPr/>
        </p:nvSpPr>
        <p:spPr>
          <a:xfrm>
            <a:off x="9875520" y="3529584"/>
            <a:ext cx="1700784" cy="1005840"/>
          </a:xfrm>
          <a:prstGeom prst="rect">
            <a:avLst/>
          </a:prstGeom>
          <a:noFill/>
          <a:ln/>
        </p:spPr>
        <p:txBody>
          <a:bodyPr wrap="square" lIns="0" tIns="0" rIns="0" bIns="0" rtlCol="0" anchor="ctr"/>
          <a:lstStyle/>
          <a:p>
            <a:pPr marL="0" indent="0">
              <a:lnSpc>
                <a:spcPct val="116000"/>
              </a:lnSpc>
              <a:buNone/>
            </a:pPr>
            <a:r>
              <a:rPr lang="en-US" sz="1050" dirty="0">
                <a:solidFill>
                  <a:srgbClr val="6B7280"/>
                </a:solidFill>
                <a:latin typeface="Inter" pitchFamily="34" charset="0"/>
                <a:ea typeface="Inter" pitchFamily="34" charset="-122"/>
                <a:cs typeface="Inter" pitchFamily="34" charset="-120"/>
              </a:rPr>
              <a:t>ILP optimizer allocates officers — one click: Send to Optimizer.</a:t>
            </a:r>
            <a:endParaRPr lang="en-US" sz="1050" dirty="0"/>
          </a:p>
        </p:txBody>
      </p:sp>
      <p:sp>
        <p:nvSpPr>
          <p:cNvPr id="39" name="Shape 32"/>
          <p:cNvSpPr/>
          <p:nvPr/>
        </p:nvSpPr>
        <p:spPr>
          <a:xfrm>
            <a:off x="566928" y="5029200"/>
            <a:ext cx="11055096" cy="932688"/>
          </a:xfrm>
          <a:prstGeom prst="roundRect">
            <a:avLst>
              <a:gd name="adj" fmla="val 4902"/>
            </a:avLst>
          </a:prstGeom>
          <a:solidFill>
            <a:srgbClr val="F9FAFB"/>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40" name="Text 33"/>
          <p:cNvSpPr/>
          <p:nvPr/>
        </p:nvSpPr>
        <p:spPr>
          <a:xfrm>
            <a:off x="914400" y="5029200"/>
            <a:ext cx="10332720" cy="932688"/>
          </a:xfrm>
          <a:prstGeom prst="rect">
            <a:avLst/>
          </a:prstGeom>
          <a:noFill/>
          <a:ln/>
        </p:spPr>
        <p:txBody>
          <a:bodyPr wrap="square" lIns="0" tIns="0" rIns="0" bIns="0" rtlCol="0" anchor="ctr"/>
          <a:lstStyle/>
          <a:p>
            <a:pPr marL="0" indent="0">
              <a:buNone/>
            </a:pPr>
            <a:r>
              <a:rPr lang="en-US" sz="1500" dirty="0">
                <a:solidFill>
                  <a:srgbClr val="6B7280"/>
                </a:solidFill>
                <a:latin typeface="Inter" pitchFamily="34" charset="0"/>
                <a:ea typeface="Inter" pitchFamily="34" charset="-122"/>
                <a:cs typeface="Inter" pitchFamily="34" charset="-120"/>
              </a:rPr>
              <a:t>The whole loop runs </a:t>
            </a:r>
            <a:r>
              <a:rPr lang="en-US" sz="1500" b="1" dirty="0">
                <a:solidFill>
                  <a:srgbClr val="C2785F"/>
                </a:solidFill>
                <a:latin typeface="Inter" pitchFamily="34" charset="0"/>
                <a:ea typeface="Inter" pitchFamily="34" charset="-122"/>
                <a:cs typeface="Inter" pitchFamily="34" charset="-120"/>
              </a:rPr>
              <a:t>before</a:t>
            </a:r>
            <a:r>
              <a:rPr lang="en-US" sz="1500" dirty="0">
                <a:solidFill>
                  <a:srgbClr val="6B7280"/>
                </a:solidFill>
                <a:latin typeface="Inter" pitchFamily="34" charset="0"/>
                <a:ea typeface="Inter" pitchFamily="34" charset="-122"/>
                <a:cs typeface="Inter" pitchFamily="34" charset="-120"/>
              </a:rPr>
              <a:t> the congestion happens. </a:t>
            </a:r>
            <a:r>
              <a:rPr lang="en-US" sz="1500" b="1" dirty="0">
                <a:solidFill>
                  <a:srgbClr val="111827"/>
                </a:solidFill>
                <a:latin typeface="Inter" pitchFamily="34" charset="0"/>
                <a:ea typeface="Inter" pitchFamily="34" charset="-122"/>
                <a:cs typeface="Inter" pitchFamily="34" charset="-120"/>
              </a:rPr>
              <a:t>That timing — not the model count — is the product.</a:t>
            </a:r>
            <a:endParaRPr lang="en-US" sz="1500" dirty="0"/>
          </a:p>
        </p:txBody>
      </p:sp>
      <p:sp>
        <p:nvSpPr>
          <p:cNvPr id="42" name="Text 35"/>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03 / 11</a:t>
            </a:r>
          </a:p>
        </p:txBody>
      </p:sp>
      <p:sp>
        <p:nvSpPr>
          <p:cNvPr id="43" name="Text 21">
            <a:extLst>
              <a:ext uri="{FF2B5EF4-FFF2-40B4-BE49-F238E27FC236}">
                <a16:creationId xmlns:a16="http://schemas.microsoft.com/office/drawing/2014/main" id="{24DCDFB0-2F5C-48B2-D022-754D3780958B}"/>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44" name="Picture 43" descr="A black and white logo&#10;&#10;AI-generated content may be incorrect.">
            <a:extLst>
              <a:ext uri="{FF2B5EF4-FFF2-40B4-BE49-F238E27FC236}">
                <a16:creationId xmlns:a16="http://schemas.microsoft.com/office/drawing/2014/main" id="{F13C80BD-7D41-1287-60B9-1BBE4441AD0F}"/>
              </a:ext>
            </a:extLst>
          </p:cNvPr>
          <p:cNvPicPr>
            <a:picLocks noChangeAspect="1"/>
          </p:cNvPicPr>
          <p:nvPr/>
        </p:nvPicPr>
        <p:blipFill>
          <a:blip r:embed="rId8"/>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03 · LIVE DEMO</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The command console, watching Bengaluru live</a:t>
            </a:r>
            <a:endParaRPr lang="en-US" sz="2900" dirty="0"/>
          </a:p>
        </p:txBody>
      </p:sp>
      <p:sp>
        <p:nvSpPr>
          <p:cNvPr id="5" name="Shape 3"/>
          <p:cNvSpPr/>
          <p:nvPr/>
        </p:nvSpPr>
        <p:spPr>
          <a:xfrm>
            <a:off x="566928" y="1627632"/>
            <a:ext cx="7269480" cy="4370832"/>
          </a:xfrm>
          <a:prstGeom prst="roundRect">
            <a:avLst>
              <a:gd name="adj" fmla="val 1255"/>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6" name="Image 0" descr="preencoded.png"/>
          <p:cNvPicPr>
            <a:picLocks noChangeAspect="1"/>
          </p:cNvPicPr>
          <p:nvPr/>
        </p:nvPicPr>
        <p:blipFill>
          <a:blip r:embed="rId3"/>
          <a:stretch>
            <a:fillRect/>
          </a:stretch>
        </p:blipFill>
        <p:spPr>
          <a:xfrm>
            <a:off x="696468" y="1709928"/>
            <a:ext cx="7010400" cy="4206240"/>
          </a:xfrm>
          <a:prstGeom prst="rect">
            <a:avLst/>
          </a:prstGeom>
        </p:spPr>
      </p:pic>
      <p:sp>
        <p:nvSpPr>
          <p:cNvPr id="7" name="Text 4"/>
          <p:cNvSpPr/>
          <p:nvPr/>
        </p:nvSpPr>
        <p:spPr>
          <a:xfrm>
            <a:off x="8065008" y="1664208"/>
            <a:ext cx="457200" cy="365760"/>
          </a:xfrm>
          <a:prstGeom prst="rect">
            <a:avLst/>
          </a:prstGeom>
          <a:noFill/>
          <a:ln/>
        </p:spPr>
        <p:txBody>
          <a:bodyPr wrap="square" lIns="0" tIns="0" rIns="0" bIns="0" rtlCol="0" anchor="ctr"/>
          <a:lstStyle/>
          <a:p>
            <a:pPr marL="0" indent="0">
              <a:buNone/>
            </a:pPr>
            <a:r>
              <a:rPr lang="en-US" sz="1500" b="1" dirty="0">
                <a:solidFill>
                  <a:srgbClr val="C2785F"/>
                </a:solidFill>
                <a:latin typeface="Consolas" pitchFamily="34" charset="0"/>
                <a:ea typeface="Consolas" pitchFamily="34" charset="-122"/>
                <a:cs typeface="Consolas" pitchFamily="34" charset="-120"/>
              </a:rPr>
              <a:t>01</a:t>
            </a:r>
            <a:endParaRPr lang="en-US" sz="1500" dirty="0"/>
          </a:p>
        </p:txBody>
      </p:sp>
      <p:sp>
        <p:nvSpPr>
          <p:cNvPr id="8" name="Text 5"/>
          <p:cNvSpPr/>
          <p:nvPr/>
        </p:nvSpPr>
        <p:spPr>
          <a:xfrm>
            <a:off x="8567928" y="1645920"/>
            <a:ext cx="3063240" cy="320040"/>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Live map</a:t>
            </a:r>
            <a:endParaRPr lang="en-US" sz="1450" dirty="0"/>
          </a:p>
        </p:txBody>
      </p:sp>
      <p:sp>
        <p:nvSpPr>
          <p:cNvPr id="9" name="Text 6"/>
          <p:cNvSpPr/>
          <p:nvPr/>
        </p:nvSpPr>
        <p:spPr>
          <a:xfrm>
            <a:off x="8567928" y="1975104"/>
            <a:ext cx="3063240" cy="548640"/>
          </a:xfrm>
          <a:prstGeom prst="rect">
            <a:avLst/>
          </a:prstGeom>
          <a:noFill/>
          <a:ln/>
        </p:spPr>
        <p:txBody>
          <a:bodyPr wrap="square" lIns="0" tIns="0" rIns="0" bIns="0" rtlCol="0" anchor="ctr"/>
          <a:lstStyle/>
          <a:p>
            <a:pPr marL="0" indent="0">
              <a:lnSpc>
                <a:spcPct val="114000"/>
              </a:lnSpc>
              <a:buNone/>
            </a:pPr>
            <a:r>
              <a:rPr lang="en-US" sz="1100" dirty="0">
                <a:solidFill>
                  <a:srgbClr val="6B7280"/>
                </a:solidFill>
                <a:latin typeface="Inter" pitchFamily="34" charset="0"/>
                <a:ea typeface="Inter" pitchFamily="34" charset="-122"/>
                <a:cs typeface="Inter" pitchFamily="34" charset="-120"/>
              </a:rPr>
              <a:t>OSM base with a real-time risk heat overlay across the city.</a:t>
            </a:r>
            <a:endParaRPr lang="en-US" sz="1100" dirty="0"/>
          </a:p>
        </p:txBody>
      </p:sp>
      <p:sp>
        <p:nvSpPr>
          <p:cNvPr id="10" name="Text 7"/>
          <p:cNvSpPr/>
          <p:nvPr/>
        </p:nvSpPr>
        <p:spPr>
          <a:xfrm>
            <a:off x="8065008" y="2615184"/>
            <a:ext cx="457200" cy="365760"/>
          </a:xfrm>
          <a:prstGeom prst="rect">
            <a:avLst/>
          </a:prstGeom>
          <a:noFill/>
          <a:ln/>
        </p:spPr>
        <p:txBody>
          <a:bodyPr wrap="square" lIns="0" tIns="0" rIns="0" bIns="0" rtlCol="0" anchor="ctr"/>
          <a:lstStyle/>
          <a:p>
            <a:pPr marL="0" indent="0">
              <a:buNone/>
            </a:pPr>
            <a:r>
              <a:rPr lang="en-US" sz="1500" b="1" dirty="0">
                <a:solidFill>
                  <a:srgbClr val="C2785F"/>
                </a:solidFill>
                <a:latin typeface="Consolas" pitchFamily="34" charset="0"/>
                <a:ea typeface="Consolas" pitchFamily="34" charset="-122"/>
                <a:cs typeface="Consolas" pitchFamily="34" charset="-120"/>
              </a:rPr>
              <a:t>02</a:t>
            </a:r>
            <a:endParaRPr lang="en-US" sz="1500" dirty="0"/>
          </a:p>
        </p:txBody>
      </p:sp>
      <p:sp>
        <p:nvSpPr>
          <p:cNvPr id="11" name="Text 8"/>
          <p:cNvSpPr/>
          <p:nvPr/>
        </p:nvSpPr>
        <p:spPr>
          <a:xfrm>
            <a:off x="8567928" y="2596896"/>
            <a:ext cx="3063240" cy="320040"/>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Hotspot intelligence</a:t>
            </a:r>
            <a:endParaRPr lang="en-US" sz="1450" dirty="0"/>
          </a:p>
        </p:txBody>
      </p:sp>
      <p:sp>
        <p:nvSpPr>
          <p:cNvPr id="12" name="Text 9"/>
          <p:cNvSpPr/>
          <p:nvPr/>
        </p:nvSpPr>
        <p:spPr>
          <a:xfrm>
            <a:off x="8567928" y="2926080"/>
            <a:ext cx="3063240" cy="548640"/>
          </a:xfrm>
          <a:prstGeom prst="rect">
            <a:avLst/>
          </a:prstGeom>
          <a:noFill/>
          <a:ln/>
        </p:spPr>
        <p:txBody>
          <a:bodyPr wrap="square" lIns="0" tIns="0" rIns="0" bIns="0" rtlCol="0" anchor="ctr"/>
          <a:lstStyle/>
          <a:p>
            <a:pPr marL="0" indent="0">
              <a:lnSpc>
                <a:spcPct val="114000"/>
              </a:lnSpc>
              <a:buNone/>
            </a:pPr>
            <a:r>
              <a:rPr lang="en-US" sz="1100" dirty="0">
                <a:solidFill>
                  <a:srgbClr val="6B7280"/>
                </a:solidFill>
                <a:latin typeface="Inter" pitchFamily="34" charset="0"/>
                <a:ea typeface="Inter" pitchFamily="34" charset="-122"/>
                <a:cs typeface="Inter" pitchFamily="34" charset="-120"/>
              </a:rPr>
              <a:t>Every junction scored — risk, congestion, logistics, violations, delay.</a:t>
            </a:r>
            <a:endParaRPr lang="en-US" sz="1100" dirty="0"/>
          </a:p>
        </p:txBody>
      </p:sp>
      <p:sp>
        <p:nvSpPr>
          <p:cNvPr id="13" name="Text 10"/>
          <p:cNvSpPr/>
          <p:nvPr/>
        </p:nvSpPr>
        <p:spPr>
          <a:xfrm>
            <a:off x="8065008" y="3566160"/>
            <a:ext cx="457200" cy="365760"/>
          </a:xfrm>
          <a:prstGeom prst="rect">
            <a:avLst/>
          </a:prstGeom>
          <a:noFill/>
          <a:ln/>
        </p:spPr>
        <p:txBody>
          <a:bodyPr wrap="square" lIns="0" tIns="0" rIns="0" bIns="0" rtlCol="0" anchor="ctr"/>
          <a:lstStyle/>
          <a:p>
            <a:pPr marL="0" indent="0">
              <a:buNone/>
            </a:pPr>
            <a:r>
              <a:rPr lang="en-US" sz="1500" b="1" dirty="0">
                <a:solidFill>
                  <a:srgbClr val="C2785F"/>
                </a:solidFill>
                <a:latin typeface="Consolas" pitchFamily="34" charset="0"/>
                <a:ea typeface="Consolas" pitchFamily="34" charset="-122"/>
                <a:cs typeface="Consolas" pitchFamily="34" charset="-120"/>
              </a:rPr>
              <a:t>03</a:t>
            </a:r>
            <a:endParaRPr lang="en-US" sz="1500" dirty="0"/>
          </a:p>
        </p:txBody>
      </p:sp>
      <p:sp>
        <p:nvSpPr>
          <p:cNvPr id="14" name="Text 11"/>
          <p:cNvSpPr/>
          <p:nvPr/>
        </p:nvSpPr>
        <p:spPr>
          <a:xfrm>
            <a:off x="8567928" y="3547872"/>
            <a:ext cx="3063240" cy="320040"/>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Recommended actions</a:t>
            </a:r>
            <a:endParaRPr lang="en-US" sz="1450" dirty="0"/>
          </a:p>
        </p:txBody>
      </p:sp>
      <p:sp>
        <p:nvSpPr>
          <p:cNvPr id="15" name="Text 12"/>
          <p:cNvSpPr/>
          <p:nvPr/>
        </p:nvSpPr>
        <p:spPr>
          <a:xfrm>
            <a:off x="8567928" y="3877056"/>
            <a:ext cx="3063240" cy="548640"/>
          </a:xfrm>
          <a:prstGeom prst="rect">
            <a:avLst/>
          </a:prstGeom>
          <a:noFill/>
          <a:ln/>
        </p:spPr>
        <p:txBody>
          <a:bodyPr wrap="square" lIns="0" tIns="0" rIns="0" bIns="0" rtlCol="0" anchor="ctr"/>
          <a:lstStyle/>
          <a:p>
            <a:pPr marL="0" indent="0">
              <a:lnSpc>
                <a:spcPct val="114000"/>
              </a:lnSpc>
              <a:buNone/>
            </a:pPr>
            <a:r>
              <a:rPr lang="en-US" sz="1100" dirty="0">
                <a:solidFill>
                  <a:srgbClr val="6B7280"/>
                </a:solidFill>
                <a:latin typeface="Inter" pitchFamily="34" charset="0"/>
                <a:ea typeface="Inter" pitchFamily="34" charset="-122"/>
                <a:cs typeface="Inter" pitchFamily="34" charset="-120"/>
              </a:rPr>
              <a:t>Top junctions with officer counts &amp; patrol windows, ready to dispatch.</a:t>
            </a:r>
            <a:endParaRPr lang="en-US" sz="1100" dirty="0"/>
          </a:p>
        </p:txBody>
      </p:sp>
      <p:sp>
        <p:nvSpPr>
          <p:cNvPr id="16" name="Text 13"/>
          <p:cNvSpPr/>
          <p:nvPr/>
        </p:nvSpPr>
        <p:spPr>
          <a:xfrm>
            <a:off x="8065008" y="4517136"/>
            <a:ext cx="457200" cy="365760"/>
          </a:xfrm>
          <a:prstGeom prst="rect">
            <a:avLst/>
          </a:prstGeom>
          <a:noFill/>
          <a:ln/>
        </p:spPr>
        <p:txBody>
          <a:bodyPr wrap="square" lIns="0" tIns="0" rIns="0" bIns="0" rtlCol="0" anchor="ctr"/>
          <a:lstStyle/>
          <a:p>
            <a:pPr marL="0" indent="0">
              <a:buNone/>
            </a:pPr>
            <a:r>
              <a:rPr lang="en-US" sz="1500" b="1" dirty="0">
                <a:solidFill>
                  <a:srgbClr val="C2785F"/>
                </a:solidFill>
                <a:latin typeface="Consolas" pitchFamily="34" charset="0"/>
                <a:ea typeface="Consolas" pitchFamily="34" charset="-122"/>
                <a:cs typeface="Consolas" pitchFamily="34" charset="-120"/>
              </a:rPr>
              <a:t>04</a:t>
            </a:r>
            <a:endParaRPr lang="en-US" sz="1500" dirty="0"/>
          </a:p>
        </p:txBody>
      </p:sp>
      <p:sp>
        <p:nvSpPr>
          <p:cNvPr id="17" name="Text 14"/>
          <p:cNvSpPr/>
          <p:nvPr/>
        </p:nvSpPr>
        <p:spPr>
          <a:xfrm>
            <a:off x="8567928" y="4498848"/>
            <a:ext cx="3063240" cy="320040"/>
          </a:xfrm>
          <a:prstGeom prst="rect">
            <a:avLst/>
          </a:prstGeom>
          <a:noFill/>
          <a:ln/>
        </p:spPr>
        <p:txBody>
          <a:bodyPr wrap="square" lIns="0" tIns="0" rIns="0" bIns="0" rtlCol="0" anchor="ctr"/>
          <a:lstStyle/>
          <a:p>
            <a:pPr marL="0" indent="0">
              <a:buNone/>
            </a:pPr>
            <a:r>
              <a:rPr lang="en-US" sz="1450" b="1" dirty="0">
                <a:solidFill>
                  <a:srgbClr val="111827"/>
                </a:solidFill>
                <a:latin typeface="Inter" pitchFamily="34" charset="0"/>
                <a:ea typeface="Inter" pitchFamily="34" charset="-122"/>
                <a:cs typeface="Inter" pitchFamily="34" charset="-120"/>
              </a:rPr>
              <a:t>Before / after</a:t>
            </a:r>
            <a:endParaRPr lang="en-US" sz="1450" dirty="0"/>
          </a:p>
        </p:txBody>
      </p:sp>
      <p:sp>
        <p:nvSpPr>
          <p:cNvPr id="18" name="Text 15"/>
          <p:cNvSpPr/>
          <p:nvPr/>
        </p:nvSpPr>
        <p:spPr>
          <a:xfrm>
            <a:off x="8567928" y="4828032"/>
            <a:ext cx="3063240" cy="548640"/>
          </a:xfrm>
          <a:prstGeom prst="rect">
            <a:avLst/>
          </a:prstGeom>
          <a:noFill/>
          <a:ln/>
        </p:spPr>
        <p:txBody>
          <a:bodyPr wrap="square" lIns="0" tIns="0" rIns="0" bIns="0" rtlCol="0" anchor="ctr"/>
          <a:lstStyle/>
          <a:p>
            <a:pPr marL="0" indent="0">
              <a:lnSpc>
                <a:spcPct val="114000"/>
              </a:lnSpc>
              <a:buNone/>
            </a:pPr>
            <a:r>
              <a:rPr lang="en-US" sz="1100" dirty="0">
                <a:solidFill>
                  <a:srgbClr val="6B7280"/>
                </a:solidFill>
                <a:latin typeface="Inter" pitchFamily="34" charset="0"/>
                <a:ea typeface="Inter" pitchFamily="34" charset="-122"/>
                <a:cs typeface="Inter" pitchFamily="34" charset="-120"/>
              </a:rPr>
              <a:t>Send to Optimizer and watch capacity recovered update live.</a:t>
            </a:r>
            <a:endParaRPr lang="en-US" sz="1100" dirty="0"/>
          </a:p>
        </p:txBody>
      </p:sp>
      <p:sp>
        <p:nvSpPr>
          <p:cNvPr id="19" name="Shape 16"/>
          <p:cNvSpPr/>
          <p:nvPr/>
        </p:nvSpPr>
        <p:spPr>
          <a:xfrm>
            <a:off x="8019288" y="5504688"/>
            <a:ext cx="3657600" cy="786384"/>
          </a:xfrm>
          <a:prstGeom prst="roundRect">
            <a:avLst>
              <a:gd name="adj" fmla="val 5814"/>
            </a:avLst>
          </a:prstGeom>
          <a:solidFill>
            <a:srgbClr val="F9FAFB"/>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20" name="Image 1" descr="preencoded.png"/>
          <p:cNvPicPr>
            <a:picLocks noChangeAspect="1"/>
          </p:cNvPicPr>
          <p:nvPr/>
        </p:nvPicPr>
        <p:blipFill>
          <a:blip r:embed="rId4"/>
          <a:stretch>
            <a:fillRect/>
          </a:stretch>
        </p:blipFill>
        <p:spPr>
          <a:xfrm>
            <a:off x="8174736" y="5724144"/>
            <a:ext cx="310896" cy="310896"/>
          </a:xfrm>
          <a:prstGeom prst="rect">
            <a:avLst/>
          </a:prstGeom>
        </p:spPr>
      </p:pic>
      <p:sp>
        <p:nvSpPr>
          <p:cNvPr id="21" name="Text 17"/>
          <p:cNvSpPr/>
          <p:nvPr/>
        </p:nvSpPr>
        <p:spPr>
          <a:xfrm>
            <a:off x="8613648" y="5504688"/>
            <a:ext cx="3063240" cy="786384"/>
          </a:xfrm>
          <a:prstGeom prst="rect">
            <a:avLst/>
          </a:prstGeom>
          <a:noFill/>
          <a:ln/>
        </p:spPr>
        <p:txBody>
          <a:bodyPr wrap="square" lIns="0" tIns="0" rIns="0" bIns="0" rtlCol="0" anchor="ctr"/>
          <a:lstStyle/>
          <a:p>
            <a:pPr marL="0" indent="0">
              <a:lnSpc>
                <a:spcPct val="112000"/>
              </a:lnSpc>
              <a:buNone/>
            </a:pPr>
            <a:r>
              <a:rPr lang="en-US" sz="1100" b="1" dirty="0">
                <a:solidFill>
                  <a:srgbClr val="111827"/>
                </a:solidFill>
                <a:latin typeface="Inter" pitchFamily="34" charset="0"/>
                <a:ea typeface="Inter" pitchFamily="34" charset="-122"/>
                <a:cs typeface="Inter" pitchFamily="34" charset="-120"/>
              </a:rPr>
              <a:t>The recommendation re-ranks in real time as officers drop offline or demand spikes.</a:t>
            </a:r>
            <a:endParaRPr lang="en-US" sz="1100" dirty="0"/>
          </a:p>
        </p:txBody>
      </p:sp>
      <p:sp>
        <p:nvSpPr>
          <p:cNvPr id="23" name="Text 19"/>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04 / 11</a:t>
            </a:r>
          </a:p>
        </p:txBody>
      </p:sp>
      <p:sp>
        <p:nvSpPr>
          <p:cNvPr id="24" name="Text 21">
            <a:extLst>
              <a:ext uri="{FF2B5EF4-FFF2-40B4-BE49-F238E27FC236}">
                <a16:creationId xmlns:a16="http://schemas.microsoft.com/office/drawing/2014/main" id="{A6E387B8-E9CC-52D8-FE0C-30A1C4C1BB02}"/>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25" name="Picture 24" descr="A black and white logo&#10;&#10;AI-generated content may be incorrect.">
            <a:extLst>
              <a:ext uri="{FF2B5EF4-FFF2-40B4-BE49-F238E27FC236}">
                <a16:creationId xmlns:a16="http://schemas.microsoft.com/office/drawing/2014/main" id="{E973129D-8B9C-454D-3F42-8BEA5407325A}"/>
              </a:ext>
            </a:extLst>
          </p:cNvPr>
          <p:cNvPicPr>
            <a:picLocks noChangeAspect="1"/>
          </p:cNvPicPr>
          <p:nvPr/>
        </p:nvPicPr>
        <p:blipFill>
          <a:blip r:embed="rId5"/>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04 · THE FORECAST ENGINE</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ST-GATv2 ranks every corridor by Risk × Delay × Logistics</a:t>
            </a:r>
            <a:endParaRPr lang="en-US" sz="2900" dirty="0"/>
          </a:p>
        </p:txBody>
      </p:sp>
      <p:sp>
        <p:nvSpPr>
          <p:cNvPr id="5" name="Shape 3"/>
          <p:cNvSpPr/>
          <p:nvPr/>
        </p:nvSpPr>
        <p:spPr>
          <a:xfrm>
            <a:off x="566928" y="1627632"/>
            <a:ext cx="7269480" cy="4370832"/>
          </a:xfrm>
          <a:prstGeom prst="roundRect">
            <a:avLst>
              <a:gd name="adj" fmla="val 1255"/>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6" name="Image 0" descr="preencoded.png"/>
          <p:cNvPicPr>
            <a:picLocks noChangeAspect="1"/>
          </p:cNvPicPr>
          <p:nvPr/>
        </p:nvPicPr>
        <p:blipFill>
          <a:blip r:embed="rId3"/>
          <a:stretch>
            <a:fillRect/>
          </a:stretch>
        </p:blipFill>
        <p:spPr>
          <a:xfrm>
            <a:off x="696468" y="1709928"/>
            <a:ext cx="7010400" cy="4206240"/>
          </a:xfrm>
          <a:prstGeom prst="rect">
            <a:avLst/>
          </a:prstGeom>
        </p:spPr>
      </p:pic>
      <p:sp>
        <p:nvSpPr>
          <p:cNvPr id="7" name="Text 4"/>
          <p:cNvSpPr/>
          <p:nvPr/>
        </p:nvSpPr>
        <p:spPr>
          <a:xfrm>
            <a:off x="8065008" y="1664208"/>
            <a:ext cx="3566160" cy="777240"/>
          </a:xfrm>
          <a:prstGeom prst="rect">
            <a:avLst/>
          </a:prstGeom>
          <a:noFill/>
          <a:ln/>
        </p:spPr>
        <p:txBody>
          <a:bodyPr wrap="square" lIns="0" tIns="0" rIns="0" bIns="0" rtlCol="0" anchor="ctr"/>
          <a:lstStyle/>
          <a:p>
            <a:pPr marL="0" indent="0">
              <a:lnSpc>
                <a:spcPct val="118000"/>
              </a:lnSpc>
              <a:buNone/>
            </a:pPr>
            <a:r>
              <a:rPr lang="en-US" sz="1300" b="1" dirty="0">
                <a:solidFill>
                  <a:srgbClr val="111827"/>
                </a:solidFill>
                <a:latin typeface="Consolas" pitchFamily="34" charset="0"/>
                <a:ea typeface="Consolas" pitchFamily="34" charset="-122"/>
                <a:cs typeface="Consolas" pitchFamily="34" charset="-120"/>
              </a:rPr>
              <a:t>ST-GATv2</a:t>
            </a:r>
            <a:r>
              <a:rPr lang="en-US" sz="1300" dirty="0">
                <a:solidFill>
                  <a:srgbClr val="6B7280"/>
                </a:solidFill>
                <a:latin typeface="Inter" pitchFamily="34" charset="0"/>
                <a:ea typeface="Inter" pitchFamily="34" charset="-122"/>
                <a:cs typeface="Inter" pitchFamily="34" charset="-120"/>
              </a:rPr>
              <a:t>   spatiotemporal demand &amp; risk forecasting, with Adaptive Graph Learning enabled.</a:t>
            </a:r>
            <a:endParaRPr lang="en-US" sz="1300" dirty="0"/>
          </a:p>
        </p:txBody>
      </p:sp>
      <p:sp>
        <p:nvSpPr>
          <p:cNvPr id="8" name="Shape 5"/>
          <p:cNvSpPr/>
          <p:nvPr/>
        </p:nvSpPr>
        <p:spPr>
          <a:xfrm>
            <a:off x="8065008" y="2606040"/>
            <a:ext cx="3566160" cy="2788920"/>
          </a:xfrm>
          <a:prstGeom prst="roundRect">
            <a:avLst>
              <a:gd name="adj" fmla="val 163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9" name="Text 6"/>
          <p:cNvSpPr/>
          <p:nvPr/>
        </p:nvSpPr>
        <p:spPr>
          <a:xfrm>
            <a:off x="8293608" y="2779776"/>
            <a:ext cx="3108960" cy="274320"/>
          </a:xfrm>
          <a:prstGeom prst="rect">
            <a:avLst/>
          </a:prstGeom>
          <a:noFill/>
          <a:ln/>
        </p:spPr>
        <p:txBody>
          <a:bodyPr wrap="square" lIns="0" tIns="0" rIns="0" bIns="0" rtlCol="0" anchor="ctr"/>
          <a:lstStyle/>
          <a:p>
            <a:pPr marL="0" indent="0">
              <a:buNone/>
            </a:pPr>
            <a:r>
              <a:rPr lang="en-US" sz="1000" b="1" kern="0" spc="200" dirty="0">
                <a:solidFill>
                  <a:srgbClr val="6B7280"/>
                </a:solidFill>
                <a:latin typeface="Inter" pitchFamily="34" charset="0"/>
                <a:ea typeface="Inter" pitchFamily="34" charset="-122"/>
                <a:cs typeface="Inter" pitchFamily="34" charset="-120"/>
              </a:rPr>
              <a:t>CORRIDOR RANKING</a:t>
            </a:r>
            <a:endParaRPr lang="en-US" sz="1000" dirty="0"/>
          </a:p>
        </p:txBody>
      </p:sp>
      <p:sp>
        <p:nvSpPr>
          <p:cNvPr id="10" name="Text 7"/>
          <p:cNvSpPr/>
          <p:nvPr/>
        </p:nvSpPr>
        <p:spPr>
          <a:xfrm>
            <a:off x="10716768" y="2779776"/>
            <a:ext cx="685800" cy="274320"/>
          </a:xfrm>
          <a:prstGeom prst="rect">
            <a:avLst/>
          </a:prstGeom>
          <a:noFill/>
          <a:ln/>
        </p:spPr>
        <p:txBody>
          <a:bodyPr wrap="square" lIns="0" tIns="0" rIns="0" bIns="0" rtlCol="0" anchor="ctr"/>
          <a:lstStyle/>
          <a:p>
            <a:pPr marL="0" indent="0" algn="r">
              <a:buNone/>
            </a:pPr>
            <a:r>
              <a:rPr lang="en-US" sz="1000" b="1" kern="0" spc="100" dirty="0">
                <a:solidFill>
                  <a:srgbClr val="9CA3AF"/>
                </a:solidFill>
                <a:latin typeface="Inter" pitchFamily="34" charset="0"/>
                <a:ea typeface="Inter" pitchFamily="34" charset="-122"/>
                <a:cs typeface="Inter" pitchFamily="34" charset="-120"/>
              </a:rPr>
              <a:t>RISK</a:t>
            </a:r>
            <a:endParaRPr lang="en-US" sz="1000" dirty="0"/>
          </a:p>
        </p:txBody>
      </p:sp>
      <p:sp>
        <p:nvSpPr>
          <p:cNvPr id="11" name="Shape 8"/>
          <p:cNvSpPr/>
          <p:nvPr/>
        </p:nvSpPr>
        <p:spPr>
          <a:xfrm>
            <a:off x="8293608" y="3191256"/>
            <a:ext cx="82296" cy="82296"/>
          </a:xfrm>
          <a:prstGeom prst="rect">
            <a:avLst/>
          </a:prstGeom>
          <a:solidFill>
            <a:srgbClr val="EA580C"/>
          </a:solidFill>
          <a:ln/>
        </p:spPr>
        <p:txBody>
          <a:bodyPr/>
          <a:p/>
        </p:txBody>
      </p:sp>
      <p:sp>
        <p:nvSpPr>
          <p:cNvPr id="12" name="Text 9"/>
          <p:cNvSpPr/>
          <p:nvPr/>
        </p:nvSpPr>
        <p:spPr>
          <a:xfrm>
            <a:off x="8467344" y="3127248"/>
            <a:ext cx="2286000" cy="274320"/>
          </a:xfrm>
          <a:prstGeom prst="rect">
            <a:avLst/>
          </a:prstGeom>
          <a:noFill/>
          <a:ln/>
        </p:spPr>
        <p:txBody>
          <a:bodyPr wrap="square" lIns="0" tIns="0" rIns="0" bIns="0" rtlCol="0" anchor="ctr"/>
          <a:lstStyle/>
          <a:p>
            <a:pPr marL="0" indent="0">
              <a:buNone/>
            </a:pPr>
            <a:r>
              <a:rPr lang="en-US" sz="1150" dirty="0">
                <a:solidFill>
                  <a:srgbClr val="111827"/>
                </a:solidFill>
                <a:latin typeface="Inter" pitchFamily="34" charset="0"/>
                <a:ea typeface="Inter" pitchFamily="34" charset="-122"/>
                <a:cs typeface="Inter" pitchFamily="34" charset="-120"/>
              </a:rPr>
              <a:t>Upparpet · MG Road</a:t>
            </a:r>
            <a:endParaRPr lang="en-US" sz="1150" dirty="0"/>
          </a:p>
        </p:txBody>
      </p:sp>
      <p:sp>
        <p:nvSpPr>
          <p:cNvPr id="13" name="Text 10"/>
          <p:cNvSpPr/>
          <p:nvPr/>
        </p:nvSpPr>
        <p:spPr>
          <a:xfrm>
            <a:off x="10762488" y="3127248"/>
            <a:ext cx="640080" cy="274320"/>
          </a:xfrm>
          <a:prstGeom prst="rect">
            <a:avLst/>
          </a:prstGeom>
          <a:noFill/>
          <a:ln/>
        </p:spPr>
        <p:txBody>
          <a:bodyPr wrap="square" lIns="0" tIns="0" rIns="0" bIns="0" rtlCol="0" anchor="ctr"/>
          <a:lstStyle/>
          <a:p>
            <a:pPr marL="0" indent="0" algn="r">
              <a:buNone/>
            </a:pPr>
            <a:r>
              <a:rPr lang="en-US" sz="1300" b="1" dirty="0">
                <a:solidFill>
                  <a:srgbClr val="EA580C"/>
                </a:solidFill>
                <a:latin typeface="Consolas" pitchFamily="34" charset="0"/>
                <a:ea typeface="Consolas" pitchFamily="34" charset="-122"/>
                <a:cs typeface="Consolas" pitchFamily="34" charset="-120"/>
              </a:rPr>
              <a:t>71</a:t>
            </a:r>
            <a:endParaRPr lang="en-US" sz="1300" dirty="0"/>
          </a:p>
        </p:txBody>
      </p:sp>
      <p:sp>
        <p:nvSpPr>
          <p:cNvPr id="14" name="Shape 11"/>
          <p:cNvSpPr/>
          <p:nvPr/>
        </p:nvSpPr>
        <p:spPr>
          <a:xfrm>
            <a:off x="8293608" y="3419856"/>
            <a:ext cx="3108960" cy="36576"/>
          </a:xfrm>
          <a:prstGeom prst="rect">
            <a:avLst/>
          </a:prstGeom>
          <a:solidFill>
            <a:srgbClr val="F3F4F6"/>
          </a:solidFill>
          <a:ln/>
        </p:spPr>
        <p:txBody>
          <a:bodyPr/>
          <a:p/>
        </p:txBody>
      </p:sp>
      <p:sp>
        <p:nvSpPr>
          <p:cNvPr id="15" name="Shape 12"/>
          <p:cNvSpPr/>
          <p:nvPr/>
        </p:nvSpPr>
        <p:spPr>
          <a:xfrm>
            <a:off x="8293608" y="3419856"/>
            <a:ext cx="2207362" cy="36576"/>
          </a:xfrm>
          <a:prstGeom prst="rect">
            <a:avLst/>
          </a:prstGeom>
          <a:solidFill>
            <a:srgbClr val="EA580C"/>
          </a:solidFill>
          <a:ln/>
        </p:spPr>
        <p:txBody>
          <a:bodyPr/>
          <a:p/>
        </p:txBody>
      </p:sp>
      <p:sp>
        <p:nvSpPr>
          <p:cNvPr id="16" name="Shape 13"/>
          <p:cNvSpPr/>
          <p:nvPr/>
        </p:nvSpPr>
        <p:spPr>
          <a:xfrm>
            <a:off x="8293608" y="3648456"/>
            <a:ext cx="82296" cy="82296"/>
          </a:xfrm>
          <a:prstGeom prst="rect">
            <a:avLst/>
          </a:prstGeom>
          <a:solidFill>
            <a:srgbClr val="EA580C"/>
          </a:solidFill>
          <a:ln/>
        </p:spPr>
        <p:txBody>
          <a:bodyPr/>
          <a:p/>
        </p:txBody>
      </p:sp>
      <p:sp>
        <p:nvSpPr>
          <p:cNvPr id="17" name="Text 14"/>
          <p:cNvSpPr/>
          <p:nvPr/>
        </p:nvSpPr>
        <p:spPr>
          <a:xfrm>
            <a:off x="8467344" y="3584448"/>
            <a:ext cx="2286000" cy="274320"/>
          </a:xfrm>
          <a:prstGeom prst="rect">
            <a:avLst/>
          </a:prstGeom>
          <a:noFill/>
          <a:ln/>
        </p:spPr>
        <p:txBody>
          <a:bodyPr wrap="square" lIns="0" tIns="0" rIns="0" bIns="0" rtlCol="0" anchor="ctr"/>
          <a:lstStyle/>
          <a:p>
            <a:pPr marL="0" indent="0">
              <a:buNone/>
            </a:pPr>
            <a:r>
              <a:rPr lang="en-US" sz="1150" dirty="0">
                <a:solidFill>
                  <a:srgbClr val="111827"/>
                </a:solidFill>
                <a:latin typeface="Inter" pitchFamily="34" charset="0"/>
                <a:ea typeface="Inter" pitchFamily="34" charset="-122"/>
                <a:cs typeface="Inter" pitchFamily="34" charset="-120"/>
              </a:rPr>
              <a:t>Adugodi · Koramangala</a:t>
            </a:r>
            <a:endParaRPr lang="en-US" sz="1150" dirty="0"/>
          </a:p>
        </p:txBody>
      </p:sp>
      <p:sp>
        <p:nvSpPr>
          <p:cNvPr id="18" name="Text 15"/>
          <p:cNvSpPr/>
          <p:nvPr/>
        </p:nvSpPr>
        <p:spPr>
          <a:xfrm>
            <a:off x="10762488" y="3584448"/>
            <a:ext cx="640080" cy="274320"/>
          </a:xfrm>
          <a:prstGeom prst="rect">
            <a:avLst/>
          </a:prstGeom>
          <a:noFill/>
          <a:ln/>
        </p:spPr>
        <p:txBody>
          <a:bodyPr wrap="square" lIns="0" tIns="0" rIns="0" bIns="0" rtlCol="0" anchor="ctr"/>
          <a:lstStyle/>
          <a:p>
            <a:pPr marL="0" indent="0" algn="r">
              <a:buNone/>
            </a:pPr>
            <a:r>
              <a:rPr lang="en-US" sz="1300" b="1" dirty="0">
                <a:solidFill>
                  <a:srgbClr val="EA580C"/>
                </a:solidFill>
                <a:latin typeface="Consolas" pitchFamily="34" charset="0"/>
                <a:ea typeface="Consolas" pitchFamily="34" charset="-122"/>
                <a:cs typeface="Consolas" pitchFamily="34" charset="-120"/>
              </a:rPr>
              <a:t>63</a:t>
            </a:r>
            <a:endParaRPr lang="en-US" sz="1300" dirty="0"/>
          </a:p>
        </p:txBody>
      </p:sp>
      <p:sp>
        <p:nvSpPr>
          <p:cNvPr id="19" name="Shape 16"/>
          <p:cNvSpPr/>
          <p:nvPr/>
        </p:nvSpPr>
        <p:spPr>
          <a:xfrm>
            <a:off x="8293608" y="3877056"/>
            <a:ext cx="3108960" cy="36576"/>
          </a:xfrm>
          <a:prstGeom prst="rect">
            <a:avLst/>
          </a:prstGeom>
          <a:solidFill>
            <a:srgbClr val="F3F4F6"/>
          </a:solidFill>
          <a:ln/>
        </p:spPr>
        <p:txBody>
          <a:bodyPr/>
          <a:p/>
        </p:txBody>
      </p:sp>
      <p:sp>
        <p:nvSpPr>
          <p:cNvPr id="20" name="Shape 17"/>
          <p:cNvSpPr/>
          <p:nvPr/>
        </p:nvSpPr>
        <p:spPr>
          <a:xfrm>
            <a:off x="8293608" y="3877056"/>
            <a:ext cx="1958645" cy="36576"/>
          </a:xfrm>
          <a:prstGeom prst="rect">
            <a:avLst/>
          </a:prstGeom>
          <a:solidFill>
            <a:srgbClr val="EA580C"/>
          </a:solidFill>
          <a:ln/>
        </p:spPr>
        <p:txBody>
          <a:bodyPr/>
          <a:p/>
        </p:txBody>
      </p:sp>
      <p:sp>
        <p:nvSpPr>
          <p:cNvPr id="21" name="Shape 18"/>
          <p:cNvSpPr/>
          <p:nvPr/>
        </p:nvSpPr>
        <p:spPr>
          <a:xfrm>
            <a:off x="8293608" y="4105656"/>
            <a:ext cx="82296" cy="82296"/>
          </a:xfrm>
          <a:prstGeom prst="rect">
            <a:avLst/>
          </a:prstGeom>
          <a:solidFill>
            <a:srgbClr val="D9A406"/>
          </a:solidFill>
          <a:ln/>
        </p:spPr>
        <p:txBody>
          <a:bodyPr/>
          <a:p/>
        </p:txBody>
      </p:sp>
      <p:sp>
        <p:nvSpPr>
          <p:cNvPr id="22" name="Text 19"/>
          <p:cNvSpPr/>
          <p:nvPr/>
        </p:nvSpPr>
        <p:spPr>
          <a:xfrm>
            <a:off x="8467344" y="4041648"/>
            <a:ext cx="2286000" cy="274320"/>
          </a:xfrm>
          <a:prstGeom prst="rect">
            <a:avLst/>
          </a:prstGeom>
          <a:noFill/>
          <a:ln/>
        </p:spPr>
        <p:txBody>
          <a:bodyPr wrap="square" lIns="0" tIns="0" rIns="0" bIns="0" rtlCol="0" anchor="ctr"/>
          <a:lstStyle/>
          <a:p>
            <a:pPr marL="0" indent="0">
              <a:buNone/>
            </a:pPr>
            <a:r>
              <a:rPr lang="en-US" sz="1150" dirty="0">
                <a:solidFill>
                  <a:srgbClr val="111827"/>
                </a:solidFill>
                <a:latin typeface="Inter" pitchFamily="34" charset="0"/>
                <a:ea typeface="Inter" pitchFamily="34" charset="-122"/>
                <a:cs typeface="Inter" pitchFamily="34" charset="-120"/>
              </a:rPr>
              <a:t>Cubbon Park · MG Road</a:t>
            </a:r>
            <a:endParaRPr lang="en-US" sz="1150" dirty="0"/>
          </a:p>
        </p:txBody>
      </p:sp>
      <p:sp>
        <p:nvSpPr>
          <p:cNvPr id="23" name="Text 20"/>
          <p:cNvSpPr/>
          <p:nvPr/>
        </p:nvSpPr>
        <p:spPr>
          <a:xfrm>
            <a:off x="10762488" y="4041648"/>
            <a:ext cx="640080" cy="274320"/>
          </a:xfrm>
          <a:prstGeom prst="rect">
            <a:avLst/>
          </a:prstGeom>
          <a:noFill/>
          <a:ln/>
        </p:spPr>
        <p:txBody>
          <a:bodyPr wrap="square" lIns="0" tIns="0" rIns="0" bIns="0" rtlCol="0" anchor="ctr"/>
          <a:lstStyle/>
          <a:p>
            <a:pPr marL="0" indent="0" algn="r">
              <a:buNone/>
            </a:pPr>
            <a:r>
              <a:rPr lang="en-US" sz="1300" b="1" dirty="0">
                <a:solidFill>
                  <a:srgbClr val="D9A406"/>
                </a:solidFill>
                <a:latin typeface="Consolas" pitchFamily="34" charset="0"/>
                <a:ea typeface="Consolas" pitchFamily="34" charset="-122"/>
                <a:cs typeface="Consolas" pitchFamily="34" charset="-120"/>
              </a:rPr>
              <a:t>57</a:t>
            </a:r>
            <a:endParaRPr lang="en-US" sz="1300" dirty="0"/>
          </a:p>
        </p:txBody>
      </p:sp>
      <p:sp>
        <p:nvSpPr>
          <p:cNvPr id="24" name="Shape 21"/>
          <p:cNvSpPr/>
          <p:nvPr/>
        </p:nvSpPr>
        <p:spPr>
          <a:xfrm>
            <a:off x="8293608" y="4334256"/>
            <a:ext cx="3108960" cy="36576"/>
          </a:xfrm>
          <a:prstGeom prst="rect">
            <a:avLst/>
          </a:prstGeom>
          <a:solidFill>
            <a:srgbClr val="F3F4F6"/>
          </a:solidFill>
          <a:ln/>
        </p:spPr>
        <p:txBody>
          <a:bodyPr/>
          <a:p/>
        </p:txBody>
      </p:sp>
      <p:sp>
        <p:nvSpPr>
          <p:cNvPr id="25" name="Shape 22"/>
          <p:cNvSpPr/>
          <p:nvPr/>
        </p:nvSpPr>
        <p:spPr>
          <a:xfrm>
            <a:off x="8293608" y="4334256"/>
            <a:ext cx="1772107" cy="36576"/>
          </a:xfrm>
          <a:prstGeom prst="rect">
            <a:avLst/>
          </a:prstGeom>
          <a:solidFill>
            <a:srgbClr val="D9A406"/>
          </a:solidFill>
          <a:ln/>
        </p:spPr>
        <p:txBody>
          <a:bodyPr/>
          <a:p/>
        </p:txBody>
      </p:sp>
      <p:sp>
        <p:nvSpPr>
          <p:cNvPr id="26" name="Shape 23"/>
          <p:cNvSpPr/>
          <p:nvPr/>
        </p:nvSpPr>
        <p:spPr>
          <a:xfrm>
            <a:off x="8293608" y="4562856"/>
            <a:ext cx="82296" cy="82296"/>
          </a:xfrm>
          <a:prstGeom prst="rect">
            <a:avLst/>
          </a:prstGeom>
          <a:solidFill>
            <a:srgbClr val="16A34A"/>
          </a:solidFill>
          <a:ln/>
        </p:spPr>
        <p:txBody>
          <a:bodyPr/>
          <a:p/>
        </p:txBody>
      </p:sp>
      <p:sp>
        <p:nvSpPr>
          <p:cNvPr id="27" name="Text 24"/>
          <p:cNvSpPr/>
          <p:nvPr/>
        </p:nvSpPr>
        <p:spPr>
          <a:xfrm>
            <a:off x="8467344" y="4498848"/>
            <a:ext cx="2286000" cy="274320"/>
          </a:xfrm>
          <a:prstGeom prst="rect">
            <a:avLst/>
          </a:prstGeom>
          <a:noFill/>
          <a:ln/>
        </p:spPr>
        <p:txBody>
          <a:bodyPr wrap="square" lIns="0" tIns="0" rIns="0" bIns="0" rtlCol="0" anchor="ctr"/>
          <a:lstStyle/>
          <a:p>
            <a:pPr marL="0" indent="0">
              <a:buNone/>
            </a:pPr>
            <a:r>
              <a:rPr lang="en-US" sz="1150" dirty="0">
                <a:solidFill>
                  <a:srgbClr val="111827"/>
                </a:solidFill>
                <a:latin typeface="Inter" pitchFamily="34" charset="0"/>
                <a:ea typeface="Inter" pitchFamily="34" charset="-122"/>
                <a:cs typeface="Inter" pitchFamily="34" charset="-120"/>
              </a:rPr>
              <a:t>Halasur · MG Road</a:t>
            </a:r>
            <a:endParaRPr lang="en-US" sz="1150" dirty="0"/>
          </a:p>
        </p:txBody>
      </p:sp>
      <p:sp>
        <p:nvSpPr>
          <p:cNvPr id="28" name="Text 25"/>
          <p:cNvSpPr/>
          <p:nvPr/>
        </p:nvSpPr>
        <p:spPr>
          <a:xfrm>
            <a:off x="10762488" y="4498848"/>
            <a:ext cx="640080" cy="274320"/>
          </a:xfrm>
          <a:prstGeom prst="rect">
            <a:avLst/>
          </a:prstGeom>
          <a:noFill/>
          <a:ln/>
        </p:spPr>
        <p:txBody>
          <a:bodyPr wrap="square" lIns="0" tIns="0" rIns="0" bIns="0" rtlCol="0" anchor="ctr"/>
          <a:lstStyle/>
          <a:p>
            <a:pPr marL="0" indent="0" algn="r">
              <a:buNone/>
            </a:pPr>
            <a:r>
              <a:rPr lang="en-US" sz="1300" b="1" dirty="0">
                <a:solidFill>
                  <a:srgbClr val="16A34A"/>
                </a:solidFill>
                <a:latin typeface="Consolas" pitchFamily="34" charset="0"/>
                <a:ea typeface="Consolas" pitchFamily="34" charset="-122"/>
                <a:cs typeface="Consolas" pitchFamily="34" charset="-120"/>
              </a:rPr>
              <a:t>39</a:t>
            </a:r>
            <a:endParaRPr lang="en-US" sz="1300" dirty="0"/>
          </a:p>
        </p:txBody>
      </p:sp>
      <p:sp>
        <p:nvSpPr>
          <p:cNvPr id="29" name="Shape 26"/>
          <p:cNvSpPr/>
          <p:nvPr/>
        </p:nvSpPr>
        <p:spPr>
          <a:xfrm>
            <a:off x="8293608" y="4791456"/>
            <a:ext cx="3108960" cy="36576"/>
          </a:xfrm>
          <a:prstGeom prst="rect">
            <a:avLst/>
          </a:prstGeom>
          <a:solidFill>
            <a:srgbClr val="F3F4F6"/>
          </a:solidFill>
          <a:ln/>
        </p:spPr>
        <p:txBody>
          <a:bodyPr/>
          <a:p/>
        </p:txBody>
      </p:sp>
      <p:sp>
        <p:nvSpPr>
          <p:cNvPr id="30" name="Shape 27"/>
          <p:cNvSpPr/>
          <p:nvPr/>
        </p:nvSpPr>
        <p:spPr>
          <a:xfrm>
            <a:off x="8293608" y="4791456"/>
            <a:ext cx="1212494" cy="36576"/>
          </a:xfrm>
          <a:prstGeom prst="rect">
            <a:avLst/>
          </a:prstGeom>
          <a:solidFill>
            <a:srgbClr val="16A34A"/>
          </a:solidFill>
          <a:ln/>
        </p:spPr>
        <p:txBody>
          <a:bodyPr/>
          <a:p/>
        </p:txBody>
      </p:sp>
      <p:sp>
        <p:nvSpPr>
          <p:cNvPr id="31" name="Shape 28"/>
          <p:cNvSpPr/>
          <p:nvPr/>
        </p:nvSpPr>
        <p:spPr>
          <a:xfrm>
            <a:off x="8293608" y="5020056"/>
            <a:ext cx="82296" cy="82296"/>
          </a:xfrm>
          <a:prstGeom prst="rect">
            <a:avLst/>
          </a:prstGeom>
          <a:solidFill>
            <a:srgbClr val="2563EB"/>
          </a:solidFill>
          <a:ln/>
        </p:spPr>
        <p:txBody>
          <a:bodyPr/>
          <a:p/>
        </p:txBody>
      </p:sp>
      <p:sp>
        <p:nvSpPr>
          <p:cNvPr id="32" name="Text 29"/>
          <p:cNvSpPr/>
          <p:nvPr/>
        </p:nvSpPr>
        <p:spPr>
          <a:xfrm>
            <a:off x="8467344" y="4956048"/>
            <a:ext cx="2286000" cy="274320"/>
          </a:xfrm>
          <a:prstGeom prst="rect">
            <a:avLst/>
          </a:prstGeom>
          <a:noFill/>
          <a:ln/>
        </p:spPr>
        <p:txBody>
          <a:bodyPr wrap="square" lIns="0" tIns="0" rIns="0" bIns="0" rtlCol="0" anchor="ctr"/>
          <a:lstStyle/>
          <a:p>
            <a:pPr marL="0" indent="0">
              <a:buNone/>
            </a:pPr>
            <a:r>
              <a:rPr lang="en-US" sz="1150" dirty="0">
                <a:solidFill>
                  <a:srgbClr val="111827"/>
                </a:solidFill>
                <a:latin typeface="Inter" pitchFamily="34" charset="0"/>
                <a:ea typeface="Inter" pitchFamily="34" charset="-122"/>
                <a:cs typeface="Inter" pitchFamily="34" charset="-120"/>
              </a:rPr>
              <a:t>Bellandur · Sarjapur</a:t>
            </a:r>
            <a:endParaRPr lang="en-US" sz="1150" dirty="0"/>
          </a:p>
        </p:txBody>
      </p:sp>
      <p:sp>
        <p:nvSpPr>
          <p:cNvPr id="33" name="Text 30"/>
          <p:cNvSpPr/>
          <p:nvPr/>
        </p:nvSpPr>
        <p:spPr>
          <a:xfrm>
            <a:off x="10762488" y="4956048"/>
            <a:ext cx="640080" cy="274320"/>
          </a:xfrm>
          <a:prstGeom prst="rect">
            <a:avLst/>
          </a:prstGeom>
          <a:noFill/>
          <a:ln/>
        </p:spPr>
        <p:txBody>
          <a:bodyPr wrap="square" lIns="0" tIns="0" rIns="0" bIns="0" rtlCol="0" anchor="ctr"/>
          <a:lstStyle/>
          <a:p>
            <a:pPr marL="0" indent="0" algn="r">
              <a:buNone/>
            </a:pPr>
            <a:r>
              <a:rPr lang="en-US" sz="1300" b="1" dirty="0">
                <a:solidFill>
                  <a:srgbClr val="2563EB"/>
                </a:solidFill>
                <a:latin typeface="Consolas" pitchFamily="34" charset="0"/>
                <a:ea typeface="Consolas" pitchFamily="34" charset="-122"/>
                <a:cs typeface="Consolas" pitchFamily="34" charset="-120"/>
              </a:rPr>
              <a:t>11</a:t>
            </a:r>
            <a:endParaRPr lang="en-US" sz="1300" dirty="0"/>
          </a:p>
        </p:txBody>
      </p:sp>
      <p:sp>
        <p:nvSpPr>
          <p:cNvPr id="34" name="Shape 31"/>
          <p:cNvSpPr/>
          <p:nvPr/>
        </p:nvSpPr>
        <p:spPr>
          <a:xfrm>
            <a:off x="8293608" y="5248656"/>
            <a:ext cx="3108960" cy="36576"/>
          </a:xfrm>
          <a:prstGeom prst="rect">
            <a:avLst/>
          </a:prstGeom>
          <a:solidFill>
            <a:srgbClr val="F3F4F6"/>
          </a:solidFill>
          <a:ln/>
        </p:spPr>
        <p:txBody>
          <a:bodyPr/>
          <a:p/>
        </p:txBody>
      </p:sp>
      <p:sp>
        <p:nvSpPr>
          <p:cNvPr id="35" name="Shape 32"/>
          <p:cNvSpPr/>
          <p:nvPr/>
        </p:nvSpPr>
        <p:spPr>
          <a:xfrm>
            <a:off x="8293608" y="5248656"/>
            <a:ext cx="341986" cy="36576"/>
          </a:xfrm>
          <a:prstGeom prst="rect">
            <a:avLst/>
          </a:prstGeom>
          <a:solidFill>
            <a:srgbClr val="2563EB"/>
          </a:solidFill>
          <a:ln/>
        </p:spPr>
        <p:txBody>
          <a:bodyPr/>
          <a:p/>
        </p:txBody>
      </p:sp>
      <p:sp>
        <p:nvSpPr>
          <p:cNvPr id="37" name="Text 34"/>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05 / 11</a:t>
            </a:r>
          </a:p>
        </p:txBody>
      </p:sp>
      <p:sp>
        <p:nvSpPr>
          <p:cNvPr id="38" name="Text 21">
            <a:extLst>
              <a:ext uri="{FF2B5EF4-FFF2-40B4-BE49-F238E27FC236}">
                <a16:creationId xmlns:a16="http://schemas.microsoft.com/office/drawing/2014/main" id="{29DC6088-2B5F-2F26-5B05-1B6467D2D845}"/>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39" name="Picture 38" descr="A black and white logo&#10;&#10;AI-generated content may be incorrect.">
            <a:extLst>
              <a:ext uri="{FF2B5EF4-FFF2-40B4-BE49-F238E27FC236}">
                <a16:creationId xmlns:a16="http://schemas.microsoft.com/office/drawing/2014/main" id="{97D56D67-833E-3176-90D2-B470F1AA52D5}"/>
              </a:ext>
            </a:extLst>
          </p:cNvPr>
          <p:cNvPicPr>
            <a:picLocks noChangeAspect="1"/>
          </p:cNvPicPr>
          <p:nvPr/>
        </p:nvPicPr>
        <p:blipFill>
          <a:blip r:embed="rId4"/>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457200"/>
            <a:ext cx="109728" cy="109728"/>
          </a:xfrm>
          <a:prstGeom prst="rect">
            <a:avLst/>
          </a:prstGeom>
          <a:solidFill>
            <a:srgbClr val="C27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txBox="1"/>
          <p:nvPr/>
        </p:nvSpPr>
        <p:spPr>
          <a:xfrm>
            <a:off x="749808" y="374904"/>
            <a:ext cx="8229600" cy="274320"/>
          </a:xfrm>
          <a:prstGeom prst="rect">
            <a:avLst/>
          </a:prstGeom>
          <a:noFill/>
        </p:spPr>
        <p:txBody>
          <a:bodyPr wrap="square" lIns="0" tIns="0" rIns="0" bIns="0">
            <a:spAutoFit/>
          </a:bodyPr>
          <a:lstStyle/>
          <a:p>
            <a:r>
              <a:rPr sz="1200" b="1">
                <a:solidFill>
                  <a:srgbClr val="6B7280"/>
                </a:solidFill>
                <a:latin typeface="Inter"/>
              </a:rPr>
              <a:t>05 · MODEL ARCHITECTURE</a:t>
            </a:r>
          </a:p>
        </p:txBody>
      </p:sp>
      <p:sp>
        <p:nvSpPr>
          <p:cNvPr id="4" name="TextBox 3"/>
          <p:cNvSpPr txBox="1"/>
          <p:nvPr/>
        </p:nvSpPr>
        <p:spPr>
          <a:xfrm>
            <a:off x="548640" y="676656"/>
            <a:ext cx="11064240" cy="777240"/>
          </a:xfrm>
          <a:prstGeom prst="rect">
            <a:avLst/>
          </a:prstGeom>
          <a:noFill/>
        </p:spPr>
        <p:txBody>
          <a:bodyPr wrap="square" lIns="0" tIns="0" rIns="0" bIns="0">
            <a:spAutoFit/>
          </a:bodyPr>
          <a:lstStyle/>
          <a:p>
            <a:r>
              <a:rPr sz="2900" b="1">
                <a:solidFill>
                  <a:srgbClr val="111827"/>
                </a:solidFill>
                <a:latin typeface="Inter"/>
              </a:rPr>
              <a:t>Physics-Coupled Spatiotemporal Graph Attention Network</a:t>
            </a:r>
          </a:p>
        </p:txBody>
      </p:sp>
      <p:pic>
        <p:nvPicPr>
          <p:cNvPr id="5" name="Picture 4" descr="image.png"/>
          <p:cNvPicPr>
            <a:picLocks noChangeAspect="1"/>
          </p:cNvPicPr>
          <p:nvPr/>
        </p:nvPicPr>
        <p:blipFill>
          <a:blip r:embed="rId2"/>
          <a:stretch>
            <a:fillRect/>
          </a:stretch>
        </p:blipFill>
        <p:spPr>
          <a:xfrm>
            <a:off x="548640" y="6291072"/>
            <a:ext cx="923544" cy="493776"/>
          </a:xfrm>
          <a:prstGeom prst="rect">
            <a:avLst/>
          </a:prstGeom>
        </p:spPr>
      </p:pic>
      <p:sp>
        <p:nvSpPr>
          <p:cNvPr id="6" name="TextBox 5"/>
          <p:cNvSpPr txBox="1"/>
          <p:nvPr/>
        </p:nvSpPr>
        <p:spPr>
          <a:xfrm>
            <a:off x="1589318" y="6400891"/>
            <a:ext cx="5486400" cy="274320"/>
          </a:xfrm>
          <a:prstGeom prst="rect">
            <a:avLst/>
          </a:prstGeom>
          <a:noFill/>
        </p:spPr>
        <p:txBody>
          <a:bodyPr wrap="square" lIns="0" tIns="0" rIns="0" bIns="0">
            <a:spAutoFit/>
          </a:bodyPr>
          <a:lstStyle/>
          <a:p>
            <a:r>
              <a:rPr sz="900">
                <a:solidFill>
                  <a:srgbClr val="9CA3AF"/>
                </a:solidFill>
                <a:latin typeface="Consolas"/>
              </a:rPr>
              <a:t>BTP · CMD</a:t>
            </a:r>
          </a:p>
        </p:txBody>
      </p:sp>
      <p:sp>
        <p:nvSpPr>
          <p:cNvPr id="7" name="TextBox 6"/>
          <p:cNvSpPr txBox="1"/>
          <p:nvPr/>
        </p:nvSpPr>
        <p:spPr>
          <a:xfrm>
            <a:off x="10424160" y="6455664"/>
            <a:ext cx="1371600" cy="274320"/>
          </a:xfrm>
          <a:prstGeom prst="rect">
            <a:avLst/>
          </a:prstGeom>
          <a:noFill/>
        </p:spPr>
        <p:txBody>
          <a:bodyPr wrap="square" lIns="0" tIns="0" rIns="0" bIns="0">
            <a:spAutoFit/>
          </a:bodyPr>
          <a:lstStyle/>
          <a:p>
            <a:pPr algn="r"/>
            <a:r>
              <a:rPr sz="900">
                <a:solidFill>
                  <a:srgbClr val="9CA3AF"/>
                </a:solidFill>
                <a:latin typeface="Consolas"/>
              </a:rPr>
              <a:t>06 / 11</a:t>
            </a:r>
          </a:p>
        </p:txBody>
      </p:sp>
      <p:sp>
        <p:nvSpPr>
          <p:cNvPr id="8" name="Rectangle 7"/>
          <p:cNvSpPr/>
          <p:nvPr/>
        </p:nvSpPr>
        <p:spPr>
          <a:xfrm>
            <a:off x="566928" y="1828800"/>
            <a:ext cx="3291840" cy="2560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20240"/>
            <a:ext cx="3017520" cy="320040"/>
          </a:xfrm>
          <a:prstGeom prst="rect">
            <a:avLst/>
          </a:prstGeom>
          <a:noFill/>
        </p:spPr>
        <p:txBody>
          <a:bodyPr wrap="none">
            <a:spAutoFit/>
          </a:bodyPr>
          <a:lstStyle/>
          <a:p>
            <a:r>
              <a:rPr sz="1000" b="1">
                <a:solidFill>
                  <a:srgbClr val="C2785F"/>
                </a:solidFill>
                <a:latin typeface="Inter"/>
              </a:rPr>
              <a:t>01 · MULTI-SOURCE INPUTS</a:t>
            </a:r>
          </a:p>
        </p:txBody>
      </p:sp>
      <p:sp>
        <p:nvSpPr>
          <p:cNvPr id="10" name="Rectangle 9"/>
          <p:cNvSpPr/>
          <p:nvPr/>
        </p:nvSpPr>
        <p:spPr>
          <a:xfrm>
            <a:off x="749808" y="2267712"/>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Road Network Graph (cKDTree)</a:t>
            </a:r>
          </a:p>
          <a:p>
            <a:pPr>
              <a:spcAft>
                <a:spcPts val="100"/>
              </a:spcAft>
            </a:pPr>
            <a:r>
              <a:rPr sz="800">
                <a:solidFill>
                  <a:srgbClr val="6B7280"/>
                </a:solidFill>
                <a:latin typeface="Inter"/>
              </a:rPr>
              <a:t>• Snaps coordinates to corridor network segment</a:t>
            </a:r>
          </a:p>
          <a:p>
            <a:pPr>
              <a:spcAft>
                <a:spcPts val="100"/>
              </a:spcAft>
            </a:pPr>
            <a:r>
              <a:rPr sz="800">
                <a:solidFill>
                  <a:srgbClr val="6B7280"/>
                </a:solidFill>
                <a:latin typeface="Inter"/>
              </a:rPr>
              <a:t>• Graph Grid: 338 Nodes, 784 Directed Edges</a:t>
            </a:r>
          </a:p>
        </p:txBody>
      </p:sp>
      <p:sp>
        <p:nvSpPr>
          <p:cNvPr id="11" name="Rectangle 10"/>
          <p:cNvSpPr/>
          <p:nvPr/>
        </p:nvSpPr>
        <p:spPr>
          <a:xfrm>
            <a:off x="749808" y="2944368"/>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Hyper-Local Context Ingestion</a:t>
            </a:r>
          </a:p>
          <a:p>
            <a:pPr>
              <a:spcAft>
                <a:spcPts val="100"/>
              </a:spcAft>
            </a:pPr>
            <a:r>
              <a:rPr sz="800">
                <a:solidFill>
                  <a:srgbClr val="6B7280"/>
                </a:solidFill>
                <a:latin typeface="Inter"/>
              </a:rPr>
              <a:t>• Snaps Flipkart hubs &amp; courier boxes (eLocs)</a:t>
            </a:r>
          </a:p>
          <a:p>
            <a:pPr>
              <a:spcAft>
                <a:spcPts val="100"/>
              </a:spcAft>
            </a:pPr>
            <a:r>
              <a:rPr sz="800">
                <a:solidFill>
                  <a:srgbClr val="6B7280"/>
                </a:solidFill>
                <a:latin typeface="Inter"/>
              </a:rPr>
              <a:t>• Queries POIs and Mappls slope gradients</a:t>
            </a:r>
          </a:p>
        </p:txBody>
      </p:sp>
      <p:sp>
        <p:nvSpPr>
          <p:cNvPr id="12" name="Rectangle 11"/>
          <p:cNvSpPr/>
          <p:nvPr/>
        </p:nvSpPr>
        <p:spPr>
          <a:xfrm>
            <a:off x="749808" y="3621024"/>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Temporal Time Encodings</a:t>
            </a:r>
          </a:p>
          <a:p>
            <a:pPr>
              <a:spcAft>
                <a:spcPts val="100"/>
              </a:spcAft>
            </a:pPr>
            <a:r>
              <a:rPr sz="800">
                <a:solidFill>
                  <a:srgbClr val="6B7280"/>
                </a:solidFill>
                <a:latin typeface="Inter"/>
              </a:rPr>
              <a:t>• Periodic sine/cosine vectors encode temporal cycles</a:t>
            </a:r>
          </a:p>
          <a:p>
            <a:pPr>
              <a:spcAft>
                <a:spcPts val="100"/>
              </a:spcAft>
            </a:pPr>
            <a:r>
              <a:rPr sz="800">
                <a:solidFill>
                  <a:srgbClr val="6B7280"/>
                </a:solidFill>
                <a:latin typeface="Inter"/>
              </a:rPr>
              <a:t>• Captures shifting daily &amp; weekly traffic grids</a:t>
            </a:r>
          </a:p>
        </p:txBody>
      </p:sp>
      <p:sp>
        <p:nvSpPr>
          <p:cNvPr id="13" name="TextBox 12"/>
          <p:cNvSpPr txBox="1"/>
          <p:nvPr/>
        </p:nvSpPr>
        <p:spPr>
          <a:xfrm>
            <a:off x="3950208" y="2926080"/>
            <a:ext cx="393192" cy="365760"/>
          </a:xfrm>
          <a:prstGeom prst="rect">
            <a:avLst/>
          </a:prstGeom>
          <a:noFill/>
        </p:spPr>
        <p:txBody>
          <a:bodyPr wrap="none">
            <a:spAutoFit/>
          </a:bodyPr>
          <a:lstStyle/>
          <a:p>
            <a:pPr algn="ctr"/>
            <a:r>
              <a:rPr sz="2400" b="1">
                <a:solidFill>
                  <a:srgbClr val="C2785F"/>
                </a:solidFill>
                <a:latin typeface="Inter"/>
              </a:rPr>
              <a:t>→</a:t>
            </a:r>
          </a:p>
        </p:txBody>
      </p:sp>
      <p:sp>
        <p:nvSpPr>
          <p:cNvPr id="14" name="Rectangle 13"/>
          <p:cNvSpPr/>
          <p:nvPr/>
        </p:nvSpPr>
        <p:spPr>
          <a:xfrm>
            <a:off x="4434840" y="1828800"/>
            <a:ext cx="3383280" cy="2560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920240"/>
            <a:ext cx="3108960" cy="320040"/>
          </a:xfrm>
          <a:prstGeom prst="rect">
            <a:avLst/>
          </a:prstGeom>
          <a:noFill/>
        </p:spPr>
        <p:txBody>
          <a:bodyPr wrap="none">
            <a:spAutoFit/>
          </a:bodyPr>
          <a:lstStyle/>
          <a:p>
            <a:r>
              <a:rPr sz="1000" b="1">
                <a:solidFill>
                  <a:srgbClr val="C2785F"/>
                </a:solidFill>
                <a:latin typeface="Inter"/>
              </a:rPr>
              <a:t>02 · ST-GATv2 GNN ENGINE</a:t>
            </a:r>
          </a:p>
        </p:txBody>
      </p:sp>
      <p:sp>
        <p:nvSpPr>
          <p:cNvPr id="16" name="Rectangle 15"/>
          <p:cNvSpPr/>
          <p:nvPr/>
        </p:nvSpPr>
        <p:spPr>
          <a:xfrm>
            <a:off x="4617720" y="2267712"/>
            <a:ext cx="301752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Parallel Spatial Embeddings</a:t>
            </a:r>
          </a:p>
          <a:p>
            <a:pPr>
              <a:spcAft>
                <a:spcPts val="100"/>
              </a:spcAft>
            </a:pPr>
            <a:r>
              <a:rPr sz="800">
                <a:solidFill>
                  <a:srgbClr val="6B7280"/>
                </a:solidFill>
                <a:latin typeface="Inter"/>
              </a:rPr>
              <a:t>• GATv2Conv attention captures local topology</a:t>
            </a:r>
          </a:p>
          <a:p>
            <a:pPr>
              <a:spcAft>
                <a:spcPts val="100"/>
              </a:spcAft>
            </a:pPr>
            <a:r>
              <a:rPr sz="800">
                <a:solidFill>
                  <a:srgbClr val="6B7280"/>
                </a:solidFill>
                <a:latin typeface="Inter"/>
              </a:rPr>
              <a:t>• Learnable embeddings map dynamic covariance</a:t>
            </a:r>
          </a:p>
        </p:txBody>
      </p:sp>
      <p:sp>
        <p:nvSpPr>
          <p:cNvPr id="17" name="Rectangle 16"/>
          <p:cNvSpPr/>
          <p:nvPr/>
        </p:nvSpPr>
        <p:spPr>
          <a:xfrm>
            <a:off x="4617720" y="2944368"/>
            <a:ext cx="301752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Sequential GRU Cell</a:t>
            </a:r>
          </a:p>
          <a:p>
            <a:pPr>
              <a:spcAft>
                <a:spcPts val="100"/>
              </a:spcAft>
            </a:pPr>
            <a:r>
              <a:rPr sz="800">
                <a:solidFill>
                  <a:srgbClr val="6B7280"/>
                </a:solidFill>
                <a:latin typeface="Inter"/>
              </a:rPr>
              <a:t>• Aggregates spatial embeddings over shift timelines</a:t>
            </a:r>
          </a:p>
          <a:p>
            <a:pPr>
              <a:spcAft>
                <a:spcPts val="100"/>
              </a:spcAft>
            </a:pPr>
            <a:r>
              <a:rPr sz="800">
                <a:solidFill>
                  <a:srgbClr val="6B7280"/>
                </a:solidFill>
                <a:latin typeface="Inter"/>
              </a:rPr>
              <a:t>• Models temporal congestion spillover effects</a:t>
            </a:r>
          </a:p>
        </p:txBody>
      </p:sp>
      <p:sp>
        <p:nvSpPr>
          <p:cNvPr id="18" name="Rectangle 17"/>
          <p:cNvSpPr/>
          <p:nvPr/>
        </p:nvSpPr>
        <p:spPr>
          <a:xfrm>
            <a:off x="4617720" y="3621024"/>
            <a:ext cx="301752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Decoder &amp; Transformation</a:t>
            </a:r>
          </a:p>
          <a:p>
            <a:pPr>
              <a:spcAft>
                <a:spcPts val="100"/>
              </a:spcAft>
            </a:pPr>
            <a:r>
              <a:rPr sz="800">
                <a:solidFill>
                  <a:srgbClr val="6B7280"/>
                </a:solidFill>
                <a:latin typeface="Inter"/>
              </a:rPr>
              <a:t>• MLP decodes GRU outputs to physical scale</a:t>
            </a:r>
          </a:p>
          <a:p>
            <a:pPr>
              <a:spcAft>
                <a:spcPts val="100"/>
              </a:spcAft>
            </a:pPr>
            <a:r>
              <a:rPr sz="800">
                <a:solidFill>
                  <a:srgbClr val="6B7280"/>
                </a:solidFill>
                <a:latin typeface="Inter"/>
              </a:rPr>
              <a:t>• Supports exponential target inverse transforms</a:t>
            </a:r>
          </a:p>
        </p:txBody>
      </p:sp>
      <p:sp>
        <p:nvSpPr>
          <p:cNvPr id="19" name="TextBox 18"/>
          <p:cNvSpPr txBox="1"/>
          <p:nvPr/>
        </p:nvSpPr>
        <p:spPr>
          <a:xfrm>
            <a:off x="7882127" y="2926080"/>
            <a:ext cx="347472" cy="365760"/>
          </a:xfrm>
          <a:prstGeom prst="rect">
            <a:avLst/>
          </a:prstGeom>
          <a:noFill/>
        </p:spPr>
        <p:txBody>
          <a:bodyPr wrap="none">
            <a:spAutoFit/>
          </a:bodyPr>
          <a:lstStyle/>
          <a:p>
            <a:pPr algn="ctr"/>
            <a:r>
              <a:rPr sz="2400" b="1">
                <a:solidFill>
                  <a:srgbClr val="C2785F"/>
                </a:solidFill>
                <a:latin typeface="Inter"/>
              </a:rPr>
              <a:t>→</a:t>
            </a:r>
          </a:p>
        </p:txBody>
      </p:sp>
      <p:sp>
        <p:nvSpPr>
          <p:cNvPr id="20" name="Rectangle 19"/>
          <p:cNvSpPr/>
          <p:nvPr/>
        </p:nvSpPr>
        <p:spPr>
          <a:xfrm>
            <a:off x="8321040" y="1828800"/>
            <a:ext cx="3291840" cy="25603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1920240"/>
            <a:ext cx="3017520" cy="320040"/>
          </a:xfrm>
          <a:prstGeom prst="rect">
            <a:avLst/>
          </a:prstGeom>
          <a:noFill/>
        </p:spPr>
        <p:txBody>
          <a:bodyPr wrap="none">
            <a:spAutoFit/>
          </a:bodyPr>
          <a:lstStyle/>
          <a:p>
            <a:r>
              <a:rPr sz="1000" b="1">
                <a:solidFill>
                  <a:srgbClr val="C2785F"/>
                </a:solidFill>
                <a:latin typeface="Inter"/>
              </a:rPr>
              <a:t>03 · CRITERIA &amp; DISPATCH</a:t>
            </a:r>
          </a:p>
        </p:txBody>
      </p:sp>
      <p:sp>
        <p:nvSpPr>
          <p:cNvPr id="22" name="Rectangle 21"/>
          <p:cNvSpPr/>
          <p:nvPr/>
        </p:nvSpPr>
        <p:spPr>
          <a:xfrm>
            <a:off x="8503920" y="2267712"/>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Tuned Optimization Objectives</a:t>
            </a:r>
          </a:p>
          <a:p>
            <a:pPr>
              <a:spcAft>
                <a:spcPts val="100"/>
              </a:spcAft>
            </a:pPr>
            <a:r>
              <a:rPr sz="800">
                <a:solidFill>
                  <a:srgbClr val="6B7280"/>
                </a:solidFill>
                <a:latin typeface="Inter"/>
              </a:rPr>
              <a:t>• Weighted Huber Loss (node deltas) limits outliers</a:t>
            </a:r>
          </a:p>
          <a:p>
            <a:pPr>
              <a:spcAft>
                <a:spcPts val="100"/>
              </a:spcAft>
            </a:pPr>
            <a:r>
              <a:rPr sz="800">
                <a:solidFill>
                  <a:srgbClr val="6B7280"/>
                </a:solidFill>
                <a:latin typeface="Inter"/>
              </a:rPr>
              <a:t>• Evening Bias Vulnerability Index overrides shift gap</a:t>
            </a:r>
          </a:p>
        </p:txBody>
      </p:sp>
      <p:sp>
        <p:nvSpPr>
          <p:cNvPr id="23" name="Rectangle 22"/>
          <p:cNvSpPr/>
          <p:nvPr/>
        </p:nvSpPr>
        <p:spPr>
          <a:xfrm>
            <a:off x="8503920" y="2944368"/>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Density-Based GIS Clustering</a:t>
            </a:r>
          </a:p>
          <a:p>
            <a:pPr>
              <a:spcAft>
                <a:spcPts val="100"/>
              </a:spcAft>
            </a:pPr>
            <a:r>
              <a:rPr sz="800">
                <a:solidFill>
                  <a:srgbClr val="6B7280"/>
                </a:solidFill>
                <a:latin typeface="Inter"/>
              </a:rPr>
              <a:t>• DBSCAN aggregates risk segments into hotspots</a:t>
            </a:r>
          </a:p>
          <a:p>
            <a:pPr>
              <a:spcAft>
                <a:spcPts val="100"/>
              </a:spcAft>
            </a:pPr>
            <a:r>
              <a:rPr sz="800">
                <a:solidFill>
                  <a:srgbClr val="6B7280"/>
                </a:solidFill>
                <a:latin typeface="Inter"/>
              </a:rPr>
              <a:t>• Filters reporting noise; maps police boundaries</a:t>
            </a:r>
          </a:p>
        </p:txBody>
      </p:sp>
      <p:sp>
        <p:nvSpPr>
          <p:cNvPr id="24" name="Rectangle 23"/>
          <p:cNvSpPr/>
          <p:nvPr/>
        </p:nvSpPr>
        <p:spPr>
          <a:xfrm>
            <a:off x="8503920" y="3621024"/>
            <a:ext cx="2926080" cy="621792"/>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200"/>
              </a:spcAft>
            </a:pPr>
            <a:r>
              <a:rPr sz="950" b="1">
                <a:solidFill>
                  <a:srgbClr val="111827"/>
                </a:solidFill>
                <a:latin typeface="Inter"/>
              </a:rPr>
              <a:t>SciPy MILP Dispatch Solver</a:t>
            </a:r>
          </a:p>
          <a:p>
            <a:pPr>
              <a:spcAft>
                <a:spcPts val="100"/>
              </a:spcAft>
            </a:pPr>
            <a:r>
              <a:rPr sz="800">
                <a:solidFill>
                  <a:srgbClr val="6B7280"/>
                </a:solidFill>
                <a:latin typeface="Inter"/>
              </a:rPr>
              <a:t>• scipy.optimize.milp models capacity bounds</a:t>
            </a:r>
          </a:p>
          <a:p>
            <a:pPr>
              <a:spcAft>
                <a:spcPts val="100"/>
              </a:spcAft>
            </a:pPr>
            <a:r>
              <a:rPr sz="800">
                <a:solidFill>
                  <a:srgbClr val="6B7280"/>
                </a:solidFill>
                <a:latin typeface="Inter"/>
              </a:rPr>
              <a:t>• Outputs recommended patrol officer counts</a:t>
            </a:r>
          </a:p>
        </p:txBody>
      </p:sp>
      <p:sp>
        <p:nvSpPr>
          <p:cNvPr id="25" name="Rectangle 24"/>
          <p:cNvSpPr/>
          <p:nvPr/>
        </p:nvSpPr>
        <p:spPr>
          <a:xfrm>
            <a:off x="566928" y="4480560"/>
            <a:ext cx="11055096" cy="1691640"/>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kde_heatmap.png"/>
          <p:cNvPicPr>
            <a:picLocks noChangeAspect="1"/>
          </p:cNvPicPr>
          <p:nvPr/>
        </p:nvPicPr>
        <p:blipFill>
          <a:blip r:embed="rId3"/>
          <a:stretch>
            <a:fillRect/>
          </a:stretch>
        </p:blipFill>
        <p:spPr>
          <a:xfrm>
            <a:off x="685800" y="4544568"/>
            <a:ext cx="3840480" cy="1554480"/>
          </a:xfrm>
          <a:prstGeom prst="rect">
            <a:avLst/>
          </a:prstGeom>
        </p:spPr>
      </p:pic>
      <p:sp>
        <p:nvSpPr>
          <p:cNvPr id="27" name="TextBox 26"/>
          <p:cNvSpPr txBox="1"/>
          <p:nvPr/>
        </p:nvSpPr>
        <p:spPr>
          <a:xfrm>
            <a:off x="4754880" y="4590288"/>
            <a:ext cx="6675120" cy="1508760"/>
          </a:xfrm>
          <a:prstGeom prst="rect">
            <a:avLst/>
          </a:prstGeom>
          <a:noFill/>
        </p:spPr>
        <p:txBody>
          <a:bodyPr wrap="square" lIns="0" tIns="0" rIns="0" bIns="0">
            <a:spAutoFit/>
          </a:bodyPr>
          <a:lstStyle/>
          <a:p>
            <a:pPr>
              <a:spcAft>
                <a:spcPts val="300"/>
              </a:spcAft>
            </a:pPr>
            <a:r>
              <a:rPr sz="950" b="1">
                <a:solidFill>
                  <a:srgbClr val="C2785F"/>
                </a:solidFill>
                <a:latin typeface="Consolas"/>
              </a:rPr>
              <a:t>STAGE 4 · GIS KERNEL DENSITY HOTSPOT CLUSTERING (DBSCAN)</a:t>
            </a:r>
          </a:p>
          <a:p>
            <a:r>
              <a:rPr sz="850">
                <a:solidFill>
                  <a:srgbClr val="111827"/>
                </a:solidFill>
                <a:latin typeface="Inter"/>
              </a:rPr>
              <a:t>DBSCAN aggregates adjacent GNN risk-forecasted segments into geographical hotspots matching police station boundaries. The 2D Kernel Density Estimate (left) visualizes predicted traffic violation hotspots across key Bengaluru commercial corridors (MG Road, Koramangala, Whitefield), filtering spatial reporting noise and framing patrol constraints for the SciPy MILP dispatcher. It highlights snapped Flipkart eLoc hubs (blue stars) as high-priority logistics patrol zones.</a:t>
            </a:r>
          </a:p>
        </p:txBody>
      </p:sp>
    </p:spTree>
  </p:cSld>
  <p:clrMapOvr>
    <a:masterClrMapping/>
  </p:clrMapOvr>
  <p:transition xmlns:p14="http://schemas.microsoft.com/office/powerpoint/2010/main" speed="fast">
    <p14: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457200"/>
            <a:ext cx="109728" cy="109728"/>
          </a:xfrm>
          <a:prstGeom prst="rect">
            <a:avLst/>
          </a:prstGeom>
          <a:solidFill>
            <a:srgbClr val="C27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txBox="1"/>
          <p:nvPr/>
        </p:nvSpPr>
        <p:spPr>
          <a:xfrm>
            <a:off x="749808" y="374904"/>
            <a:ext cx="8229600" cy="274320"/>
          </a:xfrm>
          <a:prstGeom prst="rect">
            <a:avLst/>
          </a:prstGeom>
          <a:noFill/>
        </p:spPr>
        <p:txBody>
          <a:bodyPr wrap="square" lIns="0" tIns="0" rIns="0" bIns="0">
            <a:spAutoFit/>
          </a:bodyPr>
          <a:lstStyle/>
          <a:p>
            <a:r>
              <a:rPr sz="1200" b="1">
                <a:solidFill>
                  <a:srgbClr val="6B7280"/>
                </a:solidFill>
                <a:latin typeface="Inter"/>
              </a:rPr>
              <a:t>06 · PERFORMANCE &amp; VALIDATION</a:t>
            </a:r>
          </a:p>
        </p:txBody>
      </p:sp>
      <p:sp>
        <p:nvSpPr>
          <p:cNvPr id="4" name="TextBox 3"/>
          <p:cNvSpPr txBox="1"/>
          <p:nvPr/>
        </p:nvSpPr>
        <p:spPr>
          <a:xfrm>
            <a:off x="548640" y="676656"/>
            <a:ext cx="11064240" cy="777240"/>
          </a:xfrm>
          <a:prstGeom prst="rect">
            <a:avLst/>
          </a:prstGeom>
          <a:noFill/>
        </p:spPr>
        <p:txBody>
          <a:bodyPr wrap="square" lIns="0" tIns="0" rIns="0" bIns="0">
            <a:spAutoFit/>
          </a:bodyPr>
          <a:lstStyle/>
          <a:p>
            <a:r>
              <a:rPr sz="2900" b="1">
                <a:solidFill>
                  <a:srgbClr val="111827"/>
                </a:solidFill>
                <a:latin typeface="Inter"/>
              </a:rPr>
              <a:t>Tuned ST-GATv2 Validation &amp; Traffic Impact Metrics</a:t>
            </a:r>
          </a:p>
        </p:txBody>
      </p:sp>
      <p:pic>
        <p:nvPicPr>
          <p:cNvPr id="5" name="Picture 4" descr="image.png"/>
          <p:cNvPicPr>
            <a:picLocks noChangeAspect="1"/>
          </p:cNvPicPr>
          <p:nvPr/>
        </p:nvPicPr>
        <p:blipFill>
          <a:blip r:embed="rId2"/>
          <a:stretch>
            <a:fillRect/>
          </a:stretch>
        </p:blipFill>
        <p:spPr>
          <a:xfrm>
            <a:off x="548640" y="6291072"/>
            <a:ext cx="923544" cy="493776"/>
          </a:xfrm>
          <a:prstGeom prst="rect">
            <a:avLst/>
          </a:prstGeom>
        </p:spPr>
      </p:pic>
      <p:sp>
        <p:nvSpPr>
          <p:cNvPr id="6" name="TextBox 5"/>
          <p:cNvSpPr txBox="1"/>
          <p:nvPr/>
        </p:nvSpPr>
        <p:spPr>
          <a:xfrm>
            <a:off x="1589318" y="6400891"/>
            <a:ext cx="5486400" cy="274320"/>
          </a:xfrm>
          <a:prstGeom prst="rect">
            <a:avLst/>
          </a:prstGeom>
          <a:noFill/>
        </p:spPr>
        <p:txBody>
          <a:bodyPr wrap="square" lIns="0" tIns="0" rIns="0" bIns="0">
            <a:spAutoFit/>
          </a:bodyPr>
          <a:lstStyle/>
          <a:p>
            <a:r>
              <a:rPr sz="900">
                <a:solidFill>
                  <a:srgbClr val="9CA3AF"/>
                </a:solidFill>
                <a:latin typeface="Consolas"/>
              </a:rPr>
              <a:t>BTP · CMD</a:t>
            </a:r>
          </a:p>
        </p:txBody>
      </p:sp>
      <p:sp>
        <p:nvSpPr>
          <p:cNvPr id="7" name="TextBox 6"/>
          <p:cNvSpPr txBox="1"/>
          <p:nvPr/>
        </p:nvSpPr>
        <p:spPr>
          <a:xfrm>
            <a:off x="10424160" y="6455664"/>
            <a:ext cx="1371600" cy="274320"/>
          </a:xfrm>
          <a:prstGeom prst="rect">
            <a:avLst/>
          </a:prstGeom>
          <a:noFill/>
        </p:spPr>
        <p:txBody>
          <a:bodyPr wrap="square" lIns="0" tIns="0" rIns="0" bIns="0">
            <a:spAutoFit/>
          </a:bodyPr>
          <a:lstStyle/>
          <a:p>
            <a:pPr algn="r"/>
            <a:r>
              <a:rPr sz="900">
                <a:solidFill>
                  <a:srgbClr val="9CA3AF"/>
                </a:solidFill>
                <a:latin typeface="Consolas"/>
              </a:rPr>
              <a:t>07 / 11</a:t>
            </a:r>
          </a:p>
        </p:txBody>
      </p:sp>
      <p:sp>
        <p:nvSpPr>
          <p:cNvPr id="8" name="Rectangle 7"/>
          <p:cNvSpPr/>
          <p:nvPr/>
        </p:nvSpPr>
        <p:spPr>
          <a:xfrm>
            <a:off x="566928" y="1828800"/>
            <a:ext cx="5303520" cy="30175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nn_loss.png"/>
          <p:cNvPicPr>
            <a:picLocks noChangeAspect="1"/>
          </p:cNvPicPr>
          <p:nvPr/>
        </p:nvPicPr>
        <p:blipFill>
          <a:blip r:embed="rId3"/>
          <a:stretch>
            <a:fillRect/>
          </a:stretch>
        </p:blipFill>
        <p:spPr>
          <a:xfrm>
            <a:off x="658368" y="1874519"/>
            <a:ext cx="5120640" cy="2926080"/>
          </a:xfrm>
          <a:prstGeom prst="rect">
            <a:avLst/>
          </a:prstGeom>
        </p:spPr>
      </p:pic>
      <p:sp>
        <p:nvSpPr>
          <p:cNvPr id="10" name="Rectangle 9"/>
          <p:cNvSpPr/>
          <p:nvPr/>
        </p:nvSpPr>
        <p:spPr>
          <a:xfrm>
            <a:off x="6309360" y="1828800"/>
            <a:ext cx="5303520" cy="3017520"/>
          </a:xfrm>
          <a:prstGeom prst="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reenshields_curve.png"/>
          <p:cNvPicPr>
            <a:picLocks noChangeAspect="1"/>
          </p:cNvPicPr>
          <p:nvPr/>
        </p:nvPicPr>
        <p:blipFill>
          <a:blip r:embed="rId4"/>
          <a:stretch>
            <a:fillRect/>
          </a:stretch>
        </p:blipFill>
        <p:spPr>
          <a:xfrm>
            <a:off x="6400800" y="1874519"/>
            <a:ext cx="5120640" cy="2926080"/>
          </a:xfrm>
          <a:prstGeom prst="rect">
            <a:avLst/>
          </a:prstGeom>
        </p:spPr>
      </p:pic>
      <p:sp>
        <p:nvSpPr>
          <p:cNvPr id="12" name="Rectangle 11"/>
          <p:cNvSpPr/>
          <p:nvPr/>
        </p:nvSpPr>
        <p:spPr>
          <a:xfrm>
            <a:off x="566928" y="5029200"/>
            <a:ext cx="11055096" cy="932688"/>
          </a:xfrm>
          <a:prstGeom prst="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102352"/>
            <a:ext cx="3383280" cy="777240"/>
          </a:xfrm>
          <a:prstGeom prst="rect">
            <a:avLst/>
          </a:prstGeom>
          <a:noFill/>
        </p:spPr>
        <p:txBody>
          <a:bodyPr wrap="square" lIns="0" tIns="0" rIns="0" bIns="0">
            <a:spAutoFit/>
          </a:bodyPr>
          <a:lstStyle/>
          <a:p>
            <a:pPr>
              <a:spcAft>
                <a:spcPts val="200"/>
              </a:spcAft>
            </a:pPr>
            <a:r>
              <a:rPr sz="850" b="1">
                <a:solidFill>
                  <a:srgbClr val="C2785F"/>
                </a:solidFill>
                <a:latin typeface="Consolas"/>
              </a:rPr>
              <a:t>01 · PREDICTION PRECISION</a:t>
            </a:r>
          </a:p>
          <a:p>
            <a:r>
              <a:rPr sz="800">
                <a:solidFill>
                  <a:srgbClr val="111827"/>
                </a:solidFill>
                <a:latin typeface="Inter"/>
              </a:rPr>
              <a:t>+13.1% MAE reduction with custom Weighted Huber Loss. High-density commercial nodes are penalized quadratically using node-specific deltas.</a:t>
            </a:r>
          </a:p>
        </p:txBody>
      </p:sp>
      <p:sp>
        <p:nvSpPr>
          <p:cNvPr id="14" name="TextBox 13"/>
          <p:cNvSpPr txBox="1"/>
          <p:nvPr/>
        </p:nvSpPr>
        <p:spPr>
          <a:xfrm>
            <a:off x="4389120" y="5102352"/>
            <a:ext cx="3383280" cy="777240"/>
          </a:xfrm>
          <a:prstGeom prst="rect">
            <a:avLst/>
          </a:prstGeom>
          <a:noFill/>
        </p:spPr>
        <p:txBody>
          <a:bodyPr wrap="square" lIns="0" tIns="0" rIns="0" bIns="0">
            <a:spAutoFit/>
          </a:bodyPr>
          <a:lstStyle/>
          <a:p>
            <a:pPr>
              <a:spcAft>
                <a:spcPts val="200"/>
              </a:spcAft>
            </a:pPr>
            <a:r>
              <a:rPr sz="850" b="1">
                <a:solidFill>
                  <a:srgbClr val="C2785F"/>
                </a:solidFill>
                <a:latin typeface="Consolas"/>
              </a:rPr>
              <a:t>02 · GIS HOTSPOT COVERAGE</a:t>
            </a:r>
          </a:p>
          <a:p>
            <a:r>
              <a:rPr sz="800">
                <a:solidFill>
                  <a:srgbClr val="111827"/>
                </a:solidFill>
                <a:latin typeface="Inter"/>
              </a:rPr>
              <a:t>DBSCAN clusters cover 50.6% of city-wide violations with 68.1% station boundary alignment purity. Minimizes spatial patrol routing dispersion.</a:t>
            </a:r>
          </a:p>
        </p:txBody>
      </p:sp>
      <p:sp>
        <p:nvSpPr>
          <p:cNvPr id="15" name="TextBox 14"/>
          <p:cNvSpPr txBox="1"/>
          <p:nvPr/>
        </p:nvSpPr>
        <p:spPr>
          <a:xfrm>
            <a:off x="8046720" y="5102352"/>
            <a:ext cx="3383280" cy="777240"/>
          </a:xfrm>
          <a:prstGeom prst="rect">
            <a:avLst/>
          </a:prstGeom>
          <a:noFill/>
        </p:spPr>
        <p:txBody>
          <a:bodyPr wrap="square" lIns="0" tIns="0" rIns="0" bIns="0">
            <a:spAutoFit/>
          </a:bodyPr>
          <a:lstStyle/>
          <a:p>
            <a:pPr>
              <a:spcAft>
                <a:spcPts val="200"/>
              </a:spcAft>
            </a:pPr>
            <a:r>
              <a:rPr sz="850" b="1">
                <a:solidFill>
                  <a:srgbClr val="C2785F"/>
                </a:solidFill>
                <a:latin typeface="Consolas"/>
              </a:rPr>
              <a:t>03 · SIMULATION IMPACT</a:t>
            </a:r>
          </a:p>
          <a:p>
            <a:r>
              <a:rPr sz="800">
                <a:solidFill>
                  <a:srgbClr val="111827"/>
                </a:solidFill>
                <a:latin typeface="Inter"/>
              </a:rPr>
              <a:t>~100 vehicle-hours saved per peak hour. Proactive officer presence restores congested road capacity, yielding a average ~5% capacity recovery.</a:t>
            </a:r>
          </a:p>
        </p:txBody>
      </p:sp>
    </p:spTree>
  </p:cSld>
  <p:clrMapOvr>
    <a:masterClrMapping/>
  </p:clrMapOvr>
  <p:transition xmlns:p14="http://schemas.microsoft.com/office/powerpoint/2010/main" speed="fast">
    <p14:morph option="byObject"/>
  </p:transition>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07 · IMPACT</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One pre-shift brief, measured</a:t>
            </a:r>
            <a:endParaRPr lang="en-US" sz="2900" dirty="0"/>
          </a:p>
        </p:txBody>
      </p:sp>
      <p:sp>
        <p:nvSpPr>
          <p:cNvPr id="5" name="Shape 3"/>
          <p:cNvSpPr/>
          <p:nvPr/>
        </p:nvSpPr>
        <p:spPr>
          <a:xfrm>
            <a:off x="566928" y="1691640"/>
            <a:ext cx="2249424" cy="1207008"/>
          </a:xfrm>
          <a:prstGeom prst="roundRect">
            <a:avLst>
              <a:gd name="adj" fmla="val 3788"/>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6" name="Image 0" descr="preencoded.png"/>
          <p:cNvPicPr>
            <a:picLocks noChangeAspect="1"/>
          </p:cNvPicPr>
          <p:nvPr/>
        </p:nvPicPr>
        <p:blipFill>
          <a:blip r:embed="rId3"/>
          <a:stretch>
            <a:fillRect/>
          </a:stretch>
        </p:blipFill>
        <p:spPr>
          <a:xfrm>
            <a:off x="768096" y="1892808"/>
            <a:ext cx="310896" cy="310896"/>
          </a:xfrm>
          <a:prstGeom prst="rect">
            <a:avLst/>
          </a:prstGeom>
        </p:spPr>
      </p:pic>
      <p:sp>
        <p:nvSpPr>
          <p:cNvPr id="7" name="Text 4"/>
          <p:cNvSpPr/>
          <p:nvPr/>
        </p:nvSpPr>
        <p:spPr>
          <a:xfrm>
            <a:off x="768096" y="2221992"/>
            <a:ext cx="1883664" cy="411480"/>
          </a:xfrm>
          <a:prstGeom prst="rect">
            <a:avLst/>
          </a:prstGeom>
          <a:noFill/>
          <a:ln/>
        </p:spPr>
        <p:txBody>
          <a:bodyPr wrap="square" lIns="0" tIns="0" rIns="0" bIns="0" rtlCol="0" anchor="ctr"/>
          <a:lstStyle/>
          <a:p>
            <a:pPr marL="0" indent="0">
              <a:buNone/>
            </a:pPr>
            <a:r>
              <a:rPr lang="en-US" sz="2800" b="1" dirty="0">
                <a:solidFill>
                  <a:srgbClr val="111827"/>
                </a:solidFill>
                <a:latin typeface="Consolas" pitchFamily="34" charset="0"/>
                <a:ea typeface="Consolas" pitchFamily="34" charset="-122"/>
                <a:cs typeface="Consolas" pitchFamily="34" charset="-120"/>
              </a:rPr>
              <a:t>1,408</a:t>
            </a:r>
            <a:r>
              <a:rPr lang="en-US" sz="1500" b="1" dirty="0">
                <a:solidFill>
                  <a:srgbClr val="6B7280"/>
                </a:solidFill>
                <a:latin typeface="Consolas" pitchFamily="34" charset="0"/>
                <a:ea typeface="Consolas" pitchFamily="34" charset="-122"/>
                <a:cs typeface="Consolas" pitchFamily="34" charset="-120"/>
              </a:rPr>
              <a:t> h</a:t>
            </a:r>
            <a:endParaRPr lang="en-US" sz="2800" dirty="0"/>
          </a:p>
        </p:txBody>
      </p:sp>
      <p:sp>
        <p:nvSpPr>
          <p:cNvPr id="8" name="Text 5"/>
          <p:cNvSpPr/>
          <p:nvPr/>
        </p:nvSpPr>
        <p:spPr>
          <a:xfrm>
            <a:off x="768096" y="2606040"/>
            <a:ext cx="1883664" cy="256032"/>
          </a:xfrm>
          <a:prstGeom prst="rect">
            <a:avLst/>
          </a:prstGeom>
          <a:noFill/>
          <a:ln/>
        </p:spPr>
        <p:txBody>
          <a:bodyPr wrap="square" lIns="0" tIns="0" rIns="0" bIns="0" rtlCol="0" anchor="ctr"/>
          <a:lstStyle/>
          <a:p>
            <a:pPr marL="0" indent="0">
              <a:buNone/>
            </a:pPr>
            <a:r>
              <a:rPr lang="en-US" sz="1000" b="1" kern="0" spc="100" dirty="0">
                <a:solidFill>
                  <a:srgbClr val="6B7280"/>
                </a:solidFill>
                <a:latin typeface="Inter" pitchFamily="34" charset="0"/>
                <a:ea typeface="Inter" pitchFamily="34" charset="-122"/>
                <a:cs typeface="Inter" pitchFamily="34" charset="-120"/>
              </a:rPr>
              <a:t>COMMUTER TIME SAVED</a:t>
            </a:r>
            <a:endParaRPr lang="en-US" sz="1000" dirty="0"/>
          </a:p>
        </p:txBody>
      </p:sp>
      <p:sp>
        <p:nvSpPr>
          <p:cNvPr id="9" name="Shape 6"/>
          <p:cNvSpPr/>
          <p:nvPr/>
        </p:nvSpPr>
        <p:spPr>
          <a:xfrm>
            <a:off x="2907792" y="1691640"/>
            <a:ext cx="2249424" cy="1207008"/>
          </a:xfrm>
          <a:prstGeom prst="roundRect">
            <a:avLst>
              <a:gd name="adj" fmla="val 3788"/>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0" name="Image 1" descr="preencoded.png"/>
          <p:cNvPicPr>
            <a:picLocks noChangeAspect="1"/>
          </p:cNvPicPr>
          <p:nvPr/>
        </p:nvPicPr>
        <p:blipFill>
          <a:blip r:embed="rId4"/>
          <a:stretch>
            <a:fillRect/>
          </a:stretch>
        </p:blipFill>
        <p:spPr>
          <a:xfrm>
            <a:off x="3108960" y="1892808"/>
            <a:ext cx="310896" cy="310896"/>
          </a:xfrm>
          <a:prstGeom prst="rect">
            <a:avLst/>
          </a:prstGeom>
        </p:spPr>
      </p:pic>
      <p:sp>
        <p:nvSpPr>
          <p:cNvPr id="11" name="Text 7"/>
          <p:cNvSpPr/>
          <p:nvPr/>
        </p:nvSpPr>
        <p:spPr>
          <a:xfrm>
            <a:off x="3108960" y="2221992"/>
            <a:ext cx="1883664" cy="411480"/>
          </a:xfrm>
          <a:prstGeom prst="rect">
            <a:avLst/>
          </a:prstGeom>
          <a:noFill/>
          <a:ln/>
        </p:spPr>
        <p:txBody>
          <a:bodyPr wrap="square" lIns="0" tIns="0" rIns="0" bIns="0" rtlCol="0" anchor="ctr"/>
          <a:lstStyle/>
          <a:p>
            <a:pPr marL="0" indent="0">
              <a:buNone/>
            </a:pPr>
            <a:r>
              <a:rPr lang="en-US" sz="2800" b="1" dirty="0">
                <a:solidFill>
                  <a:srgbClr val="111827"/>
                </a:solidFill>
                <a:latin typeface="Consolas" pitchFamily="34" charset="0"/>
                <a:ea typeface="Consolas" pitchFamily="34" charset="-122"/>
                <a:cs typeface="Consolas" pitchFamily="34" charset="-120"/>
              </a:rPr>
              <a:t>7</a:t>
            </a:r>
            <a:endParaRPr lang="en-US" sz="2800" dirty="0"/>
          </a:p>
        </p:txBody>
      </p:sp>
      <p:sp>
        <p:nvSpPr>
          <p:cNvPr id="12" name="Text 8"/>
          <p:cNvSpPr/>
          <p:nvPr/>
        </p:nvSpPr>
        <p:spPr>
          <a:xfrm>
            <a:off x="3108960" y="2606040"/>
            <a:ext cx="1883664" cy="256032"/>
          </a:xfrm>
          <a:prstGeom prst="rect">
            <a:avLst/>
          </a:prstGeom>
          <a:noFill/>
          <a:ln/>
        </p:spPr>
        <p:txBody>
          <a:bodyPr wrap="square" lIns="0" tIns="0" rIns="0" bIns="0" rtlCol="0" anchor="ctr"/>
          <a:lstStyle/>
          <a:p>
            <a:pPr marL="0" indent="0">
              <a:buNone/>
            </a:pPr>
            <a:r>
              <a:rPr lang="en-US" sz="1000" b="1" kern="0" spc="100" dirty="0">
                <a:solidFill>
                  <a:srgbClr val="6B7280"/>
                </a:solidFill>
                <a:latin typeface="Inter" pitchFamily="34" charset="0"/>
                <a:ea typeface="Inter" pitchFamily="34" charset="-122"/>
                <a:cs typeface="Inter" pitchFamily="34" charset="-120"/>
              </a:rPr>
              <a:t>CRITICAL HOTSPOTS</a:t>
            </a:r>
            <a:endParaRPr lang="en-US" sz="1000" dirty="0"/>
          </a:p>
        </p:txBody>
      </p:sp>
      <p:sp>
        <p:nvSpPr>
          <p:cNvPr id="13" name="Shape 9"/>
          <p:cNvSpPr/>
          <p:nvPr/>
        </p:nvSpPr>
        <p:spPr>
          <a:xfrm>
            <a:off x="566928" y="3099816"/>
            <a:ext cx="2249424" cy="1207008"/>
          </a:xfrm>
          <a:prstGeom prst="roundRect">
            <a:avLst>
              <a:gd name="adj" fmla="val 3788"/>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4" name="Image 2" descr="preencoded.png"/>
          <p:cNvPicPr>
            <a:picLocks noChangeAspect="1"/>
          </p:cNvPicPr>
          <p:nvPr/>
        </p:nvPicPr>
        <p:blipFill>
          <a:blip r:embed="rId5"/>
          <a:stretch>
            <a:fillRect/>
          </a:stretch>
        </p:blipFill>
        <p:spPr>
          <a:xfrm>
            <a:off x="768096" y="3300984"/>
            <a:ext cx="310896" cy="310896"/>
          </a:xfrm>
          <a:prstGeom prst="rect">
            <a:avLst/>
          </a:prstGeom>
        </p:spPr>
      </p:pic>
      <p:sp>
        <p:nvSpPr>
          <p:cNvPr id="15" name="Text 10"/>
          <p:cNvSpPr/>
          <p:nvPr/>
        </p:nvSpPr>
        <p:spPr>
          <a:xfrm>
            <a:off x="768096" y="3630168"/>
            <a:ext cx="1883664" cy="411480"/>
          </a:xfrm>
          <a:prstGeom prst="rect">
            <a:avLst/>
          </a:prstGeom>
          <a:noFill/>
          <a:ln/>
        </p:spPr>
        <p:txBody>
          <a:bodyPr wrap="square" lIns="0" tIns="0" rIns="0" bIns="0" rtlCol="0" anchor="ctr"/>
          <a:lstStyle/>
          <a:p>
            <a:pPr marL="0" indent="0">
              <a:buNone/>
            </a:pPr>
            <a:r>
              <a:rPr lang="en-US" sz="2800" b="1" dirty="0">
                <a:solidFill>
                  <a:srgbClr val="111827"/>
                </a:solidFill>
                <a:latin typeface="Consolas" pitchFamily="34" charset="0"/>
                <a:ea typeface="Consolas" pitchFamily="34" charset="-122"/>
                <a:cs typeface="Consolas" pitchFamily="34" charset="-120"/>
              </a:rPr>
              <a:t>5,774</a:t>
            </a:r>
            <a:endParaRPr lang="en-US" sz="2800" dirty="0"/>
          </a:p>
        </p:txBody>
      </p:sp>
      <p:sp>
        <p:nvSpPr>
          <p:cNvPr id="16" name="Text 11"/>
          <p:cNvSpPr/>
          <p:nvPr/>
        </p:nvSpPr>
        <p:spPr>
          <a:xfrm>
            <a:off x="768096" y="4014216"/>
            <a:ext cx="1883664" cy="256032"/>
          </a:xfrm>
          <a:prstGeom prst="rect">
            <a:avLst/>
          </a:prstGeom>
          <a:noFill/>
          <a:ln/>
        </p:spPr>
        <p:txBody>
          <a:bodyPr wrap="square" lIns="0" tIns="0" rIns="0" bIns="0" rtlCol="0" anchor="ctr"/>
          <a:lstStyle/>
          <a:p>
            <a:pPr marL="0" indent="0">
              <a:buNone/>
            </a:pPr>
            <a:r>
              <a:rPr lang="en-US" sz="1000" b="1" kern="0" spc="100" dirty="0">
                <a:solidFill>
                  <a:srgbClr val="6B7280"/>
                </a:solidFill>
                <a:latin typeface="Inter" pitchFamily="34" charset="0"/>
                <a:ea typeface="Inter" pitchFamily="34" charset="-122"/>
                <a:cs typeface="Inter" pitchFamily="34" charset="-120"/>
              </a:rPr>
              <a:t>SLA BREACHES AVOIDED</a:t>
            </a:r>
            <a:endParaRPr lang="en-US" sz="1000" dirty="0"/>
          </a:p>
        </p:txBody>
      </p:sp>
      <p:sp>
        <p:nvSpPr>
          <p:cNvPr id="17" name="Shape 12"/>
          <p:cNvSpPr/>
          <p:nvPr/>
        </p:nvSpPr>
        <p:spPr>
          <a:xfrm>
            <a:off x="2907792" y="3099816"/>
            <a:ext cx="2249424" cy="1207008"/>
          </a:xfrm>
          <a:prstGeom prst="roundRect">
            <a:avLst>
              <a:gd name="adj" fmla="val 3788"/>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8" name="Image 3" descr="preencoded.png"/>
          <p:cNvPicPr>
            <a:picLocks noChangeAspect="1"/>
          </p:cNvPicPr>
          <p:nvPr/>
        </p:nvPicPr>
        <p:blipFill>
          <a:blip r:embed="rId6"/>
          <a:stretch>
            <a:fillRect/>
          </a:stretch>
        </p:blipFill>
        <p:spPr>
          <a:xfrm>
            <a:off x="3108960" y="3300984"/>
            <a:ext cx="310896" cy="310896"/>
          </a:xfrm>
          <a:prstGeom prst="rect">
            <a:avLst/>
          </a:prstGeom>
        </p:spPr>
      </p:pic>
      <p:sp>
        <p:nvSpPr>
          <p:cNvPr id="19" name="Text 13"/>
          <p:cNvSpPr/>
          <p:nvPr/>
        </p:nvSpPr>
        <p:spPr>
          <a:xfrm>
            <a:off x="3108960" y="3630168"/>
            <a:ext cx="1883664" cy="411480"/>
          </a:xfrm>
          <a:prstGeom prst="rect">
            <a:avLst/>
          </a:prstGeom>
          <a:noFill/>
          <a:ln/>
        </p:spPr>
        <p:txBody>
          <a:bodyPr wrap="square" lIns="0" tIns="0" rIns="0" bIns="0" rtlCol="0" anchor="ctr"/>
          <a:lstStyle/>
          <a:p>
            <a:pPr marL="0" indent="0">
              <a:buNone/>
            </a:pPr>
            <a:r>
              <a:rPr lang="en-US" sz="2800" b="1" dirty="0">
                <a:solidFill>
                  <a:srgbClr val="111827"/>
                </a:solidFill>
                <a:latin typeface="Consolas" pitchFamily="34" charset="0"/>
                <a:ea typeface="Consolas" pitchFamily="34" charset="-122"/>
                <a:cs typeface="Consolas" pitchFamily="34" charset="-120"/>
              </a:rPr>
              <a:t>5</a:t>
            </a:r>
            <a:r>
              <a:rPr lang="en-US" sz="1500" b="1" dirty="0">
                <a:solidFill>
                  <a:srgbClr val="6B7280"/>
                </a:solidFill>
                <a:latin typeface="Consolas" pitchFamily="34" charset="0"/>
                <a:ea typeface="Consolas" pitchFamily="34" charset="-122"/>
                <a:cs typeface="Consolas" pitchFamily="34" charset="-120"/>
              </a:rPr>
              <a:t> %</a:t>
            </a:r>
            <a:endParaRPr lang="en-US" sz="2800" dirty="0"/>
          </a:p>
        </p:txBody>
      </p:sp>
      <p:sp>
        <p:nvSpPr>
          <p:cNvPr id="20" name="Text 14"/>
          <p:cNvSpPr/>
          <p:nvPr/>
        </p:nvSpPr>
        <p:spPr>
          <a:xfrm>
            <a:off x="3108960" y="4014216"/>
            <a:ext cx="1883664" cy="256032"/>
          </a:xfrm>
          <a:prstGeom prst="rect">
            <a:avLst/>
          </a:prstGeom>
          <a:noFill/>
          <a:ln/>
        </p:spPr>
        <p:txBody>
          <a:bodyPr wrap="square" lIns="0" tIns="0" rIns="0" bIns="0" rtlCol="0" anchor="ctr"/>
          <a:lstStyle/>
          <a:p>
            <a:pPr marL="0" indent="0">
              <a:buNone/>
            </a:pPr>
            <a:r>
              <a:rPr lang="en-US" sz="1000" b="1" kern="0" spc="100" dirty="0">
                <a:solidFill>
                  <a:srgbClr val="6B7280"/>
                </a:solidFill>
                <a:latin typeface="Inter" pitchFamily="34" charset="0"/>
                <a:ea typeface="Inter" pitchFamily="34" charset="-122"/>
                <a:cs typeface="Inter" pitchFamily="34" charset="-120"/>
              </a:rPr>
              <a:t>CAPACITY RECOVERED</a:t>
            </a:r>
            <a:endParaRPr lang="en-US" sz="1000" dirty="0"/>
          </a:p>
        </p:txBody>
      </p:sp>
      <p:sp>
        <p:nvSpPr>
          <p:cNvPr id="21" name="Shape 15"/>
          <p:cNvSpPr/>
          <p:nvPr/>
        </p:nvSpPr>
        <p:spPr>
          <a:xfrm>
            <a:off x="566928" y="4507992"/>
            <a:ext cx="4590288" cy="1207008"/>
          </a:xfrm>
          <a:prstGeom prst="roundRect">
            <a:avLst>
              <a:gd name="adj" fmla="val 3788"/>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22" name="Image 4" descr="preencoded.png"/>
          <p:cNvPicPr>
            <a:picLocks noChangeAspect="1"/>
          </p:cNvPicPr>
          <p:nvPr/>
        </p:nvPicPr>
        <p:blipFill>
          <a:blip r:embed="rId7"/>
          <a:stretch>
            <a:fillRect/>
          </a:stretch>
        </p:blipFill>
        <p:spPr>
          <a:xfrm>
            <a:off x="768096" y="4709160"/>
            <a:ext cx="310896" cy="310896"/>
          </a:xfrm>
          <a:prstGeom prst="rect">
            <a:avLst/>
          </a:prstGeom>
        </p:spPr>
      </p:pic>
      <p:sp>
        <p:nvSpPr>
          <p:cNvPr id="23" name="Text 16"/>
          <p:cNvSpPr/>
          <p:nvPr/>
        </p:nvSpPr>
        <p:spPr>
          <a:xfrm>
            <a:off x="768096" y="5038344"/>
            <a:ext cx="4224528" cy="411480"/>
          </a:xfrm>
          <a:prstGeom prst="rect">
            <a:avLst/>
          </a:prstGeom>
          <a:noFill/>
          <a:ln/>
        </p:spPr>
        <p:txBody>
          <a:bodyPr wrap="square" lIns="0" tIns="0" rIns="0" bIns="0" rtlCol="0" anchor="ctr"/>
          <a:lstStyle/>
          <a:p>
            <a:pPr marL="0" indent="0">
              <a:buNone/>
            </a:pPr>
            <a:r>
              <a:rPr lang="en-US" sz="2800" b="1" dirty="0">
                <a:solidFill>
                  <a:srgbClr val="111827"/>
                </a:solidFill>
                <a:latin typeface="Consolas" pitchFamily="34" charset="0"/>
                <a:ea typeface="Consolas" pitchFamily="34" charset="-122"/>
                <a:cs typeface="Consolas" pitchFamily="34" charset="-120"/>
              </a:rPr>
              <a:t>114,506</a:t>
            </a:r>
            <a:endParaRPr lang="en-US" sz="2800" dirty="0"/>
          </a:p>
        </p:txBody>
      </p:sp>
      <p:sp>
        <p:nvSpPr>
          <p:cNvPr id="24" name="Text 17"/>
          <p:cNvSpPr/>
          <p:nvPr/>
        </p:nvSpPr>
        <p:spPr>
          <a:xfrm>
            <a:off x="768096" y="5422392"/>
            <a:ext cx="4224528" cy="256032"/>
          </a:xfrm>
          <a:prstGeom prst="rect">
            <a:avLst/>
          </a:prstGeom>
          <a:noFill/>
          <a:ln/>
        </p:spPr>
        <p:txBody>
          <a:bodyPr wrap="square" lIns="0" tIns="0" rIns="0" bIns="0" rtlCol="0" anchor="ctr"/>
          <a:lstStyle/>
          <a:p>
            <a:pPr marL="0" indent="0">
              <a:buNone/>
            </a:pPr>
            <a:r>
              <a:rPr lang="en-US" sz="1000" b="1" kern="0" spc="100" dirty="0">
                <a:solidFill>
                  <a:srgbClr val="6B7280"/>
                </a:solidFill>
                <a:latin typeface="Inter" pitchFamily="34" charset="0"/>
                <a:ea typeface="Inter" pitchFamily="34" charset="-122"/>
                <a:cs typeface="Inter" pitchFamily="34" charset="-120"/>
              </a:rPr>
              <a:t>VIOLATIONS ANALYZED</a:t>
            </a:r>
            <a:endParaRPr lang="en-US" sz="1000" dirty="0"/>
          </a:p>
        </p:txBody>
      </p:sp>
      <p:sp>
        <p:nvSpPr>
          <p:cNvPr id="25" name="Shape 18"/>
          <p:cNvSpPr/>
          <p:nvPr/>
        </p:nvSpPr>
        <p:spPr>
          <a:xfrm>
            <a:off x="5440680" y="1691640"/>
            <a:ext cx="6181344" cy="4251960"/>
          </a:xfrm>
          <a:prstGeom prst="roundRect">
            <a:avLst>
              <a:gd name="adj" fmla="val 1290"/>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26" name="Image 5" descr="preencoded.png"/>
          <p:cNvPicPr>
            <a:picLocks noChangeAspect="1"/>
          </p:cNvPicPr>
          <p:nvPr/>
        </p:nvPicPr>
        <p:blipFill>
          <a:blip r:embed="rId8"/>
          <a:stretch>
            <a:fillRect/>
          </a:stretch>
        </p:blipFill>
        <p:spPr>
          <a:xfrm>
            <a:off x="5522976" y="2012594"/>
            <a:ext cx="6016752" cy="3610051"/>
          </a:xfrm>
          <a:prstGeom prst="rect">
            <a:avLst/>
          </a:prstGeom>
        </p:spPr>
      </p:pic>
      <p:sp>
        <p:nvSpPr>
          <p:cNvPr id="27" name="Text 19"/>
          <p:cNvSpPr/>
          <p:nvPr/>
        </p:nvSpPr>
        <p:spPr>
          <a:xfrm>
            <a:off x="5440680" y="5998464"/>
            <a:ext cx="6181344" cy="274320"/>
          </a:xfrm>
          <a:prstGeom prst="rect">
            <a:avLst/>
          </a:prstGeom>
          <a:noFill/>
          <a:ln/>
        </p:spPr>
        <p:txBody>
          <a:bodyPr wrap="square" lIns="0" tIns="0" rIns="0" bIns="0" rtlCol="0" anchor="ctr"/>
          <a:lstStyle/>
          <a:p>
            <a:pPr marL="0" indent="0">
              <a:buNone/>
            </a:pPr>
            <a:r>
              <a:rPr lang="en-US" sz="850" dirty="0">
                <a:solidFill>
                  <a:srgbClr val="9CA3AF"/>
                </a:solidFill>
                <a:latin typeface="Consolas" pitchFamily="34" charset="0"/>
                <a:ea typeface="Consolas" pitchFamily="34" charset="-122"/>
                <a:cs typeface="Consolas" pitchFamily="34" charset="-120"/>
              </a:rPr>
              <a:t>LIVE EXECUTIVE BRIEF — BTP · CMD, REPORTS · PRIORITY MODE</a:t>
            </a:r>
            <a:endParaRPr lang="en-US" sz="850" dirty="0"/>
          </a:p>
        </p:txBody>
      </p:sp>
      <p:sp>
        <p:nvSpPr>
          <p:cNvPr id="29" name="Text 21"/>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08 / 11</a:t>
            </a:r>
          </a:p>
        </p:txBody>
      </p:sp>
      <p:sp>
        <p:nvSpPr>
          <p:cNvPr id="30" name="Text 21">
            <a:extLst>
              <a:ext uri="{FF2B5EF4-FFF2-40B4-BE49-F238E27FC236}">
                <a16:creationId xmlns:a16="http://schemas.microsoft.com/office/drawing/2014/main" id="{50D3016C-CE16-35DA-B172-32D974D81EA4}"/>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31" name="Picture 30" descr="A black and white logo&#10;&#10;AI-generated content may be incorrect.">
            <a:extLst>
              <a:ext uri="{FF2B5EF4-FFF2-40B4-BE49-F238E27FC236}">
                <a16:creationId xmlns:a16="http://schemas.microsoft.com/office/drawing/2014/main" id="{8B45E552-7353-AB0A-0A5B-55121E62179B}"/>
              </a:ext>
            </a:extLst>
          </p:cNvPr>
          <p:cNvPicPr>
            <a:picLocks noChangeAspect="1"/>
          </p:cNvPicPr>
          <p:nvPr/>
        </p:nvPicPr>
        <p:blipFill>
          <a:blip r:embed="rId9"/>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08 · THE SYSTEM</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Seven modules, one operating picture</a:t>
            </a:r>
            <a:endParaRPr lang="en-US" sz="2900" dirty="0"/>
          </a:p>
        </p:txBody>
      </p:sp>
      <p:sp>
        <p:nvSpPr>
          <p:cNvPr id="5" name="Shape 3"/>
          <p:cNvSpPr/>
          <p:nvPr/>
        </p:nvSpPr>
        <p:spPr>
          <a:xfrm>
            <a:off x="56692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6" name="Image 0" descr="preencoded.png"/>
          <p:cNvPicPr>
            <a:picLocks noChangeAspect="1"/>
          </p:cNvPicPr>
          <p:nvPr/>
        </p:nvPicPr>
        <p:blipFill>
          <a:blip r:embed="rId3"/>
          <a:stretch>
            <a:fillRect/>
          </a:stretch>
        </p:blipFill>
        <p:spPr>
          <a:xfrm>
            <a:off x="813816" y="2057400"/>
            <a:ext cx="420624" cy="420624"/>
          </a:xfrm>
          <a:prstGeom prst="rect">
            <a:avLst/>
          </a:prstGeom>
        </p:spPr>
      </p:pic>
      <p:sp>
        <p:nvSpPr>
          <p:cNvPr id="7" name="Text 4"/>
          <p:cNvSpPr/>
          <p:nvPr/>
        </p:nvSpPr>
        <p:spPr>
          <a:xfrm>
            <a:off x="71323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COMMAND</a:t>
            </a:r>
            <a:endParaRPr lang="en-US" sz="1150" dirty="0"/>
          </a:p>
        </p:txBody>
      </p:sp>
      <p:sp>
        <p:nvSpPr>
          <p:cNvPr id="8" name="Text 5"/>
          <p:cNvSpPr/>
          <p:nvPr/>
        </p:nvSpPr>
        <p:spPr>
          <a:xfrm>
            <a:off x="71323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Live operating picture</a:t>
            </a:r>
            <a:endParaRPr lang="en-US" sz="950" dirty="0"/>
          </a:p>
        </p:txBody>
      </p:sp>
      <p:sp>
        <p:nvSpPr>
          <p:cNvPr id="9" name="Shape 6"/>
          <p:cNvSpPr/>
          <p:nvPr/>
        </p:nvSpPr>
        <p:spPr>
          <a:xfrm>
            <a:off x="223570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0" name="Image 1" descr="preencoded.png"/>
          <p:cNvPicPr>
            <a:picLocks noChangeAspect="1"/>
          </p:cNvPicPr>
          <p:nvPr/>
        </p:nvPicPr>
        <p:blipFill>
          <a:blip r:embed="rId4"/>
          <a:stretch>
            <a:fillRect/>
          </a:stretch>
        </p:blipFill>
        <p:spPr>
          <a:xfrm>
            <a:off x="2482596" y="2057400"/>
            <a:ext cx="420624" cy="420624"/>
          </a:xfrm>
          <a:prstGeom prst="rect">
            <a:avLst/>
          </a:prstGeom>
        </p:spPr>
      </p:pic>
      <p:sp>
        <p:nvSpPr>
          <p:cNvPr id="11" name="Text 7"/>
          <p:cNvSpPr/>
          <p:nvPr/>
        </p:nvSpPr>
        <p:spPr>
          <a:xfrm>
            <a:off x="238201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PREDICT</a:t>
            </a:r>
            <a:endParaRPr lang="en-US" sz="1150" dirty="0"/>
          </a:p>
        </p:txBody>
      </p:sp>
      <p:sp>
        <p:nvSpPr>
          <p:cNvPr id="12" name="Text 8"/>
          <p:cNvSpPr/>
          <p:nvPr/>
        </p:nvSpPr>
        <p:spPr>
          <a:xfrm>
            <a:off x="238201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ST-GATv2 forecasting</a:t>
            </a:r>
            <a:endParaRPr lang="en-US" sz="950" dirty="0"/>
          </a:p>
        </p:txBody>
      </p:sp>
      <p:sp>
        <p:nvSpPr>
          <p:cNvPr id="13" name="Shape 9"/>
          <p:cNvSpPr/>
          <p:nvPr/>
        </p:nvSpPr>
        <p:spPr>
          <a:xfrm>
            <a:off x="390448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4" name="Image 2" descr="preencoded.png"/>
          <p:cNvPicPr>
            <a:picLocks noChangeAspect="1"/>
          </p:cNvPicPr>
          <p:nvPr/>
        </p:nvPicPr>
        <p:blipFill>
          <a:blip r:embed="rId5"/>
          <a:stretch>
            <a:fillRect/>
          </a:stretch>
        </p:blipFill>
        <p:spPr>
          <a:xfrm>
            <a:off x="4151376" y="2057400"/>
            <a:ext cx="420624" cy="420624"/>
          </a:xfrm>
          <a:prstGeom prst="rect">
            <a:avLst/>
          </a:prstGeom>
        </p:spPr>
      </p:pic>
      <p:sp>
        <p:nvSpPr>
          <p:cNvPr id="15" name="Text 10"/>
          <p:cNvSpPr/>
          <p:nvPr/>
        </p:nvSpPr>
        <p:spPr>
          <a:xfrm>
            <a:off x="405079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OPTIMIZE</a:t>
            </a:r>
            <a:endParaRPr lang="en-US" sz="1150" dirty="0"/>
          </a:p>
        </p:txBody>
      </p:sp>
      <p:sp>
        <p:nvSpPr>
          <p:cNvPr id="16" name="Text 11"/>
          <p:cNvSpPr/>
          <p:nvPr/>
        </p:nvSpPr>
        <p:spPr>
          <a:xfrm>
            <a:off x="405079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ILP officer dispatch</a:t>
            </a:r>
            <a:endParaRPr lang="en-US" sz="950" dirty="0"/>
          </a:p>
        </p:txBody>
      </p:sp>
      <p:sp>
        <p:nvSpPr>
          <p:cNvPr id="17" name="Shape 12"/>
          <p:cNvSpPr/>
          <p:nvPr/>
        </p:nvSpPr>
        <p:spPr>
          <a:xfrm>
            <a:off x="557326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8" name="Image 3" descr="preencoded.png"/>
          <p:cNvPicPr>
            <a:picLocks noChangeAspect="1"/>
          </p:cNvPicPr>
          <p:nvPr/>
        </p:nvPicPr>
        <p:blipFill>
          <a:blip r:embed="rId6"/>
          <a:stretch>
            <a:fillRect/>
          </a:stretch>
        </p:blipFill>
        <p:spPr>
          <a:xfrm>
            <a:off x="5820156" y="2057400"/>
            <a:ext cx="420624" cy="420624"/>
          </a:xfrm>
          <a:prstGeom prst="rect">
            <a:avLst/>
          </a:prstGeom>
        </p:spPr>
      </p:pic>
      <p:sp>
        <p:nvSpPr>
          <p:cNvPr id="19" name="Text 13"/>
          <p:cNvSpPr/>
          <p:nvPr/>
        </p:nvSpPr>
        <p:spPr>
          <a:xfrm>
            <a:off x="571957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LOGISTICS</a:t>
            </a:r>
            <a:endParaRPr lang="en-US" sz="1150" dirty="0"/>
          </a:p>
        </p:txBody>
      </p:sp>
      <p:sp>
        <p:nvSpPr>
          <p:cNvPr id="20" name="Text 14"/>
          <p:cNvSpPr/>
          <p:nvPr/>
        </p:nvSpPr>
        <p:spPr>
          <a:xfrm>
            <a:off x="571957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Freight-aware weighting</a:t>
            </a:r>
            <a:endParaRPr lang="en-US" sz="950" dirty="0"/>
          </a:p>
        </p:txBody>
      </p:sp>
      <p:sp>
        <p:nvSpPr>
          <p:cNvPr id="21" name="Shape 15"/>
          <p:cNvSpPr/>
          <p:nvPr/>
        </p:nvSpPr>
        <p:spPr>
          <a:xfrm>
            <a:off x="724204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22" name="Image 4" descr="preencoded.png"/>
          <p:cNvPicPr>
            <a:picLocks noChangeAspect="1"/>
          </p:cNvPicPr>
          <p:nvPr/>
        </p:nvPicPr>
        <p:blipFill>
          <a:blip r:embed="rId7"/>
          <a:stretch>
            <a:fillRect/>
          </a:stretch>
        </p:blipFill>
        <p:spPr>
          <a:xfrm>
            <a:off x="7488936" y="2057400"/>
            <a:ext cx="420624" cy="420624"/>
          </a:xfrm>
          <a:prstGeom prst="rect">
            <a:avLst/>
          </a:prstGeom>
        </p:spPr>
      </p:pic>
      <p:sp>
        <p:nvSpPr>
          <p:cNvPr id="23" name="Text 16"/>
          <p:cNvSpPr/>
          <p:nvPr/>
        </p:nvSpPr>
        <p:spPr>
          <a:xfrm>
            <a:off x="738835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EXPLAIN</a:t>
            </a:r>
            <a:endParaRPr lang="en-US" sz="1150" dirty="0"/>
          </a:p>
        </p:txBody>
      </p:sp>
      <p:sp>
        <p:nvSpPr>
          <p:cNvPr id="24" name="Text 17"/>
          <p:cNvSpPr/>
          <p:nvPr/>
        </p:nvSpPr>
        <p:spPr>
          <a:xfrm>
            <a:off x="738835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Why each call was made</a:t>
            </a:r>
            <a:endParaRPr lang="en-US" sz="950" dirty="0"/>
          </a:p>
        </p:txBody>
      </p:sp>
      <p:sp>
        <p:nvSpPr>
          <p:cNvPr id="25" name="Shape 18"/>
          <p:cNvSpPr/>
          <p:nvPr/>
        </p:nvSpPr>
        <p:spPr>
          <a:xfrm>
            <a:off x="891082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26" name="Image 5" descr="preencoded.png"/>
          <p:cNvPicPr>
            <a:picLocks noChangeAspect="1"/>
          </p:cNvPicPr>
          <p:nvPr/>
        </p:nvPicPr>
        <p:blipFill>
          <a:blip r:embed="rId8"/>
          <a:stretch>
            <a:fillRect/>
          </a:stretch>
        </p:blipFill>
        <p:spPr>
          <a:xfrm>
            <a:off x="9157716" y="2057400"/>
            <a:ext cx="420624" cy="420624"/>
          </a:xfrm>
          <a:prstGeom prst="rect">
            <a:avLst/>
          </a:prstGeom>
        </p:spPr>
      </p:pic>
      <p:sp>
        <p:nvSpPr>
          <p:cNvPr id="27" name="Text 19"/>
          <p:cNvSpPr/>
          <p:nvPr/>
        </p:nvSpPr>
        <p:spPr>
          <a:xfrm>
            <a:off x="905713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REPORTS</a:t>
            </a:r>
            <a:endParaRPr lang="en-US" sz="1150" dirty="0"/>
          </a:p>
        </p:txBody>
      </p:sp>
      <p:sp>
        <p:nvSpPr>
          <p:cNvPr id="28" name="Text 20"/>
          <p:cNvSpPr/>
          <p:nvPr/>
        </p:nvSpPr>
        <p:spPr>
          <a:xfrm>
            <a:off x="905713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Pre-shift priority brief</a:t>
            </a:r>
            <a:endParaRPr lang="en-US" sz="950" dirty="0"/>
          </a:p>
        </p:txBody>
      </p:sp>
      <p:sp>
        <p:nvSpPr>
          <p:cNvPr id="29" name="Shape 21"/>
          <p:cNvSpPr/>
          <p:nvPr/>
        </p:nvSpPr>
        <p:spPr>
          <a:xfrm>
            <a:off x="10579608" y="1783080"/>
            <a:ext cx="1545336" cy="1920240"/>
          </a:xfrm>
          <a:prstGeom prst="roundRect">
            <a:avLst>
              <a:gd name="adj" fmla="val 2959"/>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30" name="Image 6" descr="preencoded.png"/>
          <p:cNvPicPr>
            <a:picLocks noChangeAspect="1"/>
          </p:cNvPicPr>
          <p:nvPr/>
        </p:nvPicPr>
        <p:blipFill>
          <a:blip r:embed="rId9"/>
          <a:stretch>
            <a:fillRect/>
          </a:stretch>
        </p:blipFill>
        <p:spPr>
          <a:xfrm>
            <a:off x="10826496" y="2057400"/>
            <a:ext cx="420624" cy="420624"/>
          </a:xfrm>
          <a:prstGeom prst="rect">
            <a:avLst/>
          </a:prstGeom>
        </p:spPr>
      </p:pic>
      <p:sp>
        <p:nvSpPr>
          <p:cNvPr id="31" name="Text 22"/>
          <p:cNvSpPr/>
          <p:nvPr/>
        </p:nvSpPr>
        <p:spPr>
          <a:xfrm>
            <a:off x="10725912" y="2624328"/>
            <a:ext cx="1271016" cy="274320"/>
          </a:xfrm>
          <a:prstGeom prst="rect">
            <a:avLst/>
          </a:prstGeom>
          <a:noFill/>
          <a:ln/>
        </p:spPr>
        <p:txBody>
          <a:bodyPr wrap="square" lIns="0" tIns="0" rIns="0" bIns="0" rtlCol="0" anchor="ctr"/>
          <a:lstStyle/>
          <a:p>
            <a:pPr marL="0" indent="0">
              <a:buNone/>
            </a:pPr>
            <a:r>
              <a:rPr lang="en-US" sz="1150" b="1" kern="0" spc="100" dirty="0">
                <a:solidFill>
                  <a:srgbClr val="111827"/>
                </a:solidFill>
                <a:latin typeface="Inter" pitchFamily="34" charset="0"/>
                <a:ea typeface="Inter" pitchFamily="34" charset="-122"/>
                <a:cs typeface="Inter" pitchFamily="34" charset="-120"/>
              </a:rPr>
              <a:t>COPILOT</a:t>
            </a:r>
            <a:endParaRPr lang="en-US" sz="1150" dirty="0"/>
          </a:p>
        </p:txBody>
      </p:sp>
      <p:sp>
        <p:nvSpPr>
          <p:cNvPr id="32" name="Text 23"/>
          <p:cNvSpPr/>
          <p:nvPr/>
        </p:nvSpPr>
        <p:spPr>
          <a:xfrm>
            <a:off x="10725912" y="2916936"/>
            <a:ext cx="1289304" cy="640080"/>
          </a:xfrm>
          <a:prstGeom prst="rect">
            <a:avLst/>
          </a:prstGeom>
          <a:noFill/>
          <a:ln/>
        </p:spPr>
        <p:txBody>
          <a:bodyPr wrap="square" lIns="0" tIns="0" rIns="0" bIns="0" rtlCol="0" anchor="ctr"/>
          <a:lstStyle/>
          <a:p>
            <a:pPr marL="0" indent="0">
              <a:lnSpc>
                <a:spcPct val="112000"/>
              </a:lnSpc>
              <a:buNone/>
            </a:pPr>
            <a:r>
              <a:rPr lang="en-US" sz="950" dirty="0">
                <a:solidFill>
                  <a:srgbClr val="6B7280"/>
                </a:solidFill>
                <a:latin typeface="Inter" pitchFamily="34" charset="0"/>
                <a:ea typeface="Inter" pitchFamily="34" charset="-122"/>
                <a:cs typeface="Inter" pitchFamily="34" charset="-120"/>
              </a:rPr>
              <a:t>Ask Atlas in plain English</a:t>
            </a:r>
            <a:endParaRPr lang="en-US" sz="950" dirty="0"/>
          </a:p>
        </p:txBody>
      </p:sp>
      <p:sp>
        <p:nvSpPr>
          <p:cNvPr id="33" name="Shape 24"/>
          <p:cNvSpPr/>
          <p:nvPr/>
        </p:nvSpPr>
        <p:spPr>
          <a:xfrm>
            <a:off x="566928" y="4069080"/>
            <a:ext cx="11055096" cy="1234440"/>
          </a:xfrm>
          <a:prstGeom prst="roundRect">
            <a:avLst>
              <a:gd name="adj" fmla="val 3704"/>
            </a:avLst>
          </a:prstGeom>
          <a:solidFill>
            <a:srgbClr val="F9FAFB"/>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34" name="Text 25"/>
          <p:cNvSpPr/>
          <p:nvPr/>
        </p:nvSpPr>
        <p:spPr>
          <a:xfrm>
            <a:off x="868680" y="4251960"/>
            <a:ext cx="2743200" cy="256032"/>
          </a:xfrm>
          <a:prstGeom prst="rect">
            <a:avLst/>
          </a:prstGeom>
          <a:noFill/>
          <a:ln/>
        </p:spPr>
        <p:txBody>
          <a:bodyPr wrap="square" lIns="0" tIns="0" rIns="0" bIns="0" rtlCol="0" anchor="ctr"/>
          <a:lstStyle/>
          <a:p>
            <a:pPr marL="0" indent="0">
              <a:buNone/>
            </a:pPr>
            <a:r>
              <a:rPr lang="en-US" sz="1000" b="1" kern="0" spc="200" dirty="0">
                <a:solidFill>
                  <a:srgbClr val="9CA3AF"/>
                </a:solidFill>
                <a:latin typeface="Inter" pitchFamily="34" charset="0"/>
                <a:ea typeface="Inter" pitchFamily="34" charset="-122"/>
                <a:cs typeface="Inter" pitchFamily="34" charset="-120"/>
              </a:rPr>
              <a:t>PIPELINE</a:t>
            </a:r>
            <a:endParaRPr lang="en-US" sz="1000" dirty="0"/>
          </a:p>
        </p:txBody>
      </p:sp>
      <p:sp>
        <p:nvSpPr>
          <p:cNvPr id="35" name="Text 26"/>
          <p:cNvSpPr/>
          <p:nvPr/>
        </p:nvSpPr>
        <p:spPr>
          <a:xfrm>
            <a:off x="868680" y="4526280"/>
            <a:ext cx="10424160" cy="457200"/>
          </a:xfrm>
          <a:prstGeom prst="rect">
            <a:avLst/>
          </a:prstGeom>
          <a:noFill/>
          <a:ln/>
        </p:spPr>
        <p:txBody>
          <a:bodyPr wrap="square" lIns="0" tIns="0" rIns="0" bIns="0" rtlCol="0" anchor="ctr"/>
          <a:lstStyle/>
          <a:p>
            <a:pPr marL="0" indent="0">
              <a:buNone/>
            </a:pPr>
            <a:r>
              <a:rPr lang="en-US" sz="1400" b="1" dirty="0">
                <a:solidFill>
                  <a:srgbClr val="111827"/>
                </a:solidFill>
                <a:latin typeface="Consolas" pitchFamily="34" charset="0"/>
                <a:ea typeface="Consolas" pitchFamily="34" charset="-122"/>
                <a:cs typeface="Consolas" pitchFamily="34" charset="-120"/>
              </a:rPr>
              <a:t>Data</a:t>
            </a:r>
            <a:r>
              <a:rPr lang="en-US" sz="1400" dirty="0">
                <a:solidFill>
                  <a:srgbClr val="9CA3AF"/>
                </a:solidFill>
                <a:latin typeface="Consolas" pitchFamily="34" charset="0"/>
                <a:ea typeface="Consolas" pitchFamily="34" charset="-122"/>
                <a:cs typeface="Consolas" pitchFamily="34" charset="-120"/>
              </a:rPr>
              <a:t>  →  </a:t>
            </a:r>
            <a:r>
              <a:rPr lang="en-US" sz="1400" b="1" dirty="0">
                <a:solidFill>
                  <a:srgbClr val="111827"/>
                </a:solidFill>
                <a:latin typeface="Consolas" pitchFamily="34" charset="0"/>
                <a:ea typeface="Consolas" pitchFamily="34" charset="-122"/>
                <a:cs typeface="Consolas" pitchFamily="34" charset="-120"/>
              </a:rPr>
              <a:t>ST-GATv2 forecast</a:t>
            </a:r>
            <a:r>
              <a:rPr lang="en-US" sz="1400" dirty="0">
                <a:solidFill>
                  <a:srgbClr val="9CA3AF"/>
                </a:solidFill>
                <a:latin typeface="Consolas" pitchFamily="34" charset="0"/>
                <a:ea typeface="Consolas" pitchFamily="34" charset="-122"/>
                <a:cs typeface="Consolas" pitchFamily="34" charset="-120"/>
              </a:rPr>
              <a:t>  →  </a:t>
            </a:r>
            <a:r>
              <a:rPr lang="en-US" sz="1400" b="1" dirty="0">
                <a:solidFill>
                  <a:srgbClr val="111827"/>
                </a:solidFill>
                <a:latin typeface="Consolas" pitchFamily="34" charset="0"/>
                <a:ea typeface="Consolas" pitchFamily="34" charset="-122"/>
                <a:cs typeface="Consolas" pitchFamily="34" charset="-120"/>
              </a:rPr>
              <a:t>GIS clustering</a:t>
            </a:r>
            <a:r>
              <a:rPr lang="en-US" sz="1400" dirty="0">
                <a:solidFill>
                  <a:srgbClr val="9CA3AF"/>
                </a:solidFill>
                <a:latin typeface="Consolas" pitchFamily="34" charset="0"/>
                <a:ea typeface="Consolas" pitchFamily="34" charset="-122"/>
                <a:cs typeface="Consolas" pitchFamily="34" charset="-120"/>
              </a:rPr>
              <a:t>  →  </a:t>
            </a:r>
            <a:r>
              <a:rPr lang="en-US" sz="1400" b="1" dirty="0">
                <a:solidFill>
                  <a:srgbClr val="111827"/>
                </a:solidFill>
                <a:latin typeface="Consolas" pitchFamily="34" charset="0"/>
                <a:ea typeface="Consolas" pitchFamily="34" charset="-122"/>
                <a:cs typeface="Consolas" pitchFamily="34" charset="-120"/>
              </a:rPr>
              <a:t>ILP dispatch</a:t>
            </a:r>
            <a:r>
              <a:rPr lang="en-US" sz="1400" dirty="0">
                <a:solidFill>
                  <a:srgbClr val="9CA3AF"/>
                </a:solidFill>
                <a:latin typeface="Consolas" pitchFamily="34" charset="0"/>
                <a:ea typeface="Consolas" pitchFamily="34" charset="-122"/>
                <a:cs typeface="Consolas" pitchFamily="34" charset="-120"/>
              </a:rPr>
              <a:t>  →  </a:t>
            </a:r>
            <a:r>
              <a:rPr lang="en-US" sz="1400" b="1" dirty="0">
                <a:solidFill>
                  <a:srgbClr val="111827"/>
                </a:solidFill>
                <a:latin typeface="Consolas" pitchFamily="34" charset="0"/>
                <a:ea typeface="Consolas" pitchFamily="34" charset="-122"/>
                <a:cs typeface="Consolas" pitchFamily="34" charset="-120"/>
              </a:rPr>
              <a:t>operating picture</a:t>
            </a:r>
            <a:endParaRPr lang="en-US" sz="1400" dirty="0"/>
          </a:p>
        </p:txBody>
      </p:sp>
      <p:sp>
        <p:nvSpPr>
          <p:cNvPr id="36" name="Shape 27"/>
          <p:cNvSpPr/>
          <p:nvPr/>
        </p:nvSpPr>
        <p:spPr>
          <a:xfrm>
            <a:off x="566928" y="5468112"/>
            <a:ext cx="11055096" cy="658368"/>
          </a:xfrm>
          <a:prstGeom prst="roundRect">
            <a:avLst>
              <a:gd name="adj" fmla="val 6944"/>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37" name="Image 7" descr="preencoded.png"/>
          <p:cNvPicPr>
            <a:picLocks noChangeAspect="1"/>
          </p:cNvPicPr>
          <p:nvPr/>
        </p:nvPicPr>
        <p:blipFill>
          <a:blip r:embed="rId10"/>
          <a:stretch>
            <a:fillRect/>
          </a:stretch>
        </p:blipFill>
        <p:spPr>
          <a:xfrm>
            <a:off x="749808" y="5632704"/>
            <a:ext cx="329184" cy="329184"/>
          </a:xfrm>
          <a:prstGeom prst="rect">
            <a:avLst/>
          </a:prstGeom>
        </p:spPr>
      </p:pic>
      <p:sp>
        <p:nvSpPr>
          <p:cNvPr id="38" name="Text 28"/>
          <p:cNvSpPr/>
          <p:nvPr/>
        </p:nvSpPr>
        <p:spPr>
          <a:xfrm>
            <a:off x="1188720" y="5468112"/>
            <a:ext cx="10241280" cy="658368"/>
          </a:xfrm>
          <a:prstGeom prst="rect">
            <a:avLst/>
          </a:prstGeom>
          <a:noFill/>
          <a:ln/>
        </p:spPr>
        <p:txBody>
          <a:bodyPr wrap="square" lIns="0" tIns="0" rIns="0" bIns="0" rtlCol="0" anchor="ctr"/>
          <a:lstStyle/>
          <a:p>
            <a:pPr marL="0" indent="0">
              <a:buNone/>
            </a:pPr>
            <a:r>
              <a:rPr lang="en-US" sz="1250" b="1" dirty="0">
                <a:solidFill>
                  <a:srgbClr val="16A34A"/>
                </a:solidFill>
                <a:latin typeface="Inter" pitchFamily="34" charset="0"/>
                <a:ea typeface="Inter" pitchFamily="34" charset="-122"/>
                <a:cs typeface="Inter" pitchFamily="34" charset="-120"/>
              </a:rPr>
              <a:t>Forecast validated at ~98 R²×100 </a:t>
            </a:r>
            <a:r>
              <a:rPr lang="en-US" sz="1250" dirty="0">
                <a:solidFill>
                  <a:srgbClr val="6B7280"/>
                </a:solidFill>
                <a:latin typeface="Inter" pitchFamily="34" charset="0"/>
                <a:ea typeface="Inter" pitchFamily="34" charset="-122"/>
                <a:cs typeface="Inter" pitchFamily="34" charset="-120"/>
              </a:rPr>
              <a:t>on held-out data — the rankings are measured, not guessed.</a:t>
            </a:r>
            <a:endParaRPr lang="en-US" sz="1250" dirty="0"/>
          </a:p>
        </p:txBody>
      </p:sp>
      <p:sp>
        <p:nvSpPr>
          <p:cNvPr id="40" name="Text 30"/>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09 / 11</a:t>
            </a:r>
          </a:p>
        </p:txBody>
      </p:sp>
      <p:sp>
        <p:nvSpPr>
          <p:cNvPr id="41" name="Text 21">
            <a:extLst>
              <a:ext uri="{FF2B5EF4-FFF2-40B4-BE49-F238E27FC236}">
                <a16:creationId xmlns:a16="http://schemas.microsoft.com/office/drawing/2014/main" id="{8FA8DD28-7E1E-B9FD-702E-81C2EDF019D8}"/>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42" name="Picture 41" descr="A black and white logo&#10;&#10;AI-generated content may be incorrect.">
            <a:extLst>
              <a:ext uri="{FF2B5EF4-FFF2-40B4-BE49-F238E27FC236}">
                <a16:creationId xmlns:a16="http://schemas.microsoft.com/office/drawing/2014/main" id="{E9F515C0-9EDC-D36E-6EE3-678848AB0DC0}"/>
              </a:ext>
            </a:extLst>
          </p:cNvPr>
          <p:cNvPicPr>
            <a:picLocks noChangeAspect="1"/>
          </p:cNvPicPr>
          <p:nvPr/>
        </p:nvPicPr>
        <p:blipFill>
          <a:blip r:embed="rId11"/>
          <a:stretch>
            <a:fillRect/>
          </a:stretch>
        </p:blipFill>
        <p:spPr>
          <a:xfrm>
            <a:off x="548640" y="6291072"/>
            <a:ext cx="925421" cy="493989"/>
          </a:xfrm>
          <a:prstGeom prst="rect">
            <a:avLst/>
          </a:prstGeom>
        </p:spPr>
      </p:pic>
    </p:spTree>
  </p:cSld>
  <p:clrMapOvr>
    <a:masterClrMapping/>
  </p:clrMapOvr>
  <p:transition xmlns:p14="http://schemas.microsoft.com/office/powerpoint/2010/main" speed="fast">
    <p14:morph option="byObject"/>
  </p:transition>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109728" cy="109728"/>
          </a:xfrm>
          <a:prstGeom prst="rect">
            <a:avLst/>
          </a:prstGeom>
          <a:solidFill>
            <a:srgbClr val="C2785F"/>
          </a:solidFill>
          <a:ln/>
        </p:spPr>
        <p:txBody>
          <a:bodyPr/>
          <a:p/>
        </p:txBody>
      </p:sp>
      <p:sp>
        <p:nvSpPr>
          <p:cNvPr id="3" name="Text 1"/>
          <p:cNvSpPr/>
          <p:nvPr/>
        </p:nvSpPr>
        <p:spPr>
          <a:xfrm>
            <a:off x="749808" y="374904"/>
            <a:ext cx="8229600" cy="274320"/>
          </a:xfrm>
          <a:prstGeom prst="rect">
            <a:avLst/>
          </a:prstGeom>
          <a:noFill/>
          <a:ln/>
        </p:spPr>
        <p:txBody>
          <a:bodyPr wrap="square" lIns="0" tIns="0" rIns="0" bIns="0" rtlCol="0" anchor="ctr"/>
          <a:lstStyle/>
          <a:p>
            <a:pPr marL="0" indent="0">
              <a:buNone/>
            </a:pPr>
            <a:r>
              <a:rPr lang="en-US" sz="1200" b="1" kern="0" spc="300" dirty="0">
                <a:solidFill>
                  <a:srgbClr val="6B7280"/>
                </a:solidFill>
                <a:latin typeface="Inter" pitchFamily="34" charset="0"/>
                <a:ea typeface="Inter" pitchFamily="34" charset="-122"/>
                <a:cs typeface="Inter" pitchFamily="34" charset="-120"/>
              </a:rPr>
              <a:t>09 · DIFFERENTIATION</a:t>
            </a:r>
            <a:endParaRPr lang="en-US" sz="1200" dirty="0"/>
          </a:p>
        </p:txBody>
      </p:sp>
      <p:sp>
        <p:nvSpPr>
          <p:cNvPr id="4" name="Text 2"/>
          <p:cNvSpPr/>
          <p:nvPr/>
        </p:nvSpPr>
        <p:spPr>
          <a:xfrm>
            <a:off x="548640" y="676656"/>
            <a:ext cx="11064240" cy="777240"/>
          </a:xfrm>
          <a:prstGeom prst="rect">
            <a:avLst/>
          </a:prstGeom>
          <a:noFill/>
          <a:ln/>
        </p:spPr>
        <p:txBody>
          <a:bodyPr wrap="square" lIns="0" tIns="0" rIns="0" bIns="0" rtlCol="0" anchor="ctr"/>
          <a:lstStyle/>
          <a:p>
            <a:pPr marL="0" indent="0">
              <a:buNone/>
            </a:pPr>
            <a:r>
              <a:rPr lang="en-US" sz="2900" b="1" dirty="0">
                <a:solidFill>
                  <a:srgbClr val="111827"/>
                </a:solidFill>
                <a:latin typeface="Inter" pitchFamily="34" charset="0"/>
                <a:ea typeface="Inter" pitchFamily="34" charset="-122"/>
                <a:cs typeface="Inter" pitchFamily="34" charset="-120"/>
              </a:rPr>
              <a:t>Atlas ≠ a dashboard</a:t>
            </a:r>
            <a:endParaRPr lang="en-US" sz="2900" dirty="0"/>
          </a:p>
        </p:txBody>
      </p:sp>
      <p:sp>
        <p:nvSpPr>
          <p:cNvPr id="5" name="Shape 3"/>
          <p:cNvSpPr/>
          <p:nvPr/>
        </p:nvSpPr>
        <p:spPr>
          <a:xfrm>
            <a:off x="566928" y="1645920"/>
            <a:ext cx="5413248" cy="3657600"/>
          </a:xfrm>
          <a:prstGeom prst="roundRect">
            <a:avLst>
              <a:gd name="adj" fmla="val 1250"/>
            </a:avLst>
          </a:prstGeom>
          <a:solidFill>
            <a:srgbClr val="FFFFFF"/>
          </a:solidFill>
          <a:ln w="12700">
            <a:solidFill>
              <a:srgbClr val="E5E7EB"/>
            </a:solidFill>
            <a:prstDash val="solid"/>
          </a:ln>
          <a:effectLst>
            <a:outerShdw blurRad="88900" dist="25400" dir="5400000" algn="bl" rotWithShape="0">
              <a:srgbClr val="111827">
                <a:alpha val="7000"/>
              </a:srgbClr>
            </a:outerShdw>
          </a:effectLst>
        </p:spPr>
        <p:txBody>
          <a:bodyPr/>
          <a:p/>
        </p:txBody>
      </p:sp>
      <p:sp>
        <p:nvSpPr>
          <p:cNvPr id="6" name="Text 4"/>
          <p:cNvSpPr/>
          <p:nvPr/>
        </p:nvSpPr>
        <p:spPr>
          <a:xfrm>
            <a:off x="868680" y="1883664"/>
            <a:ext cx="4846320" cy="274320"/>
          </a:xfrm>
          <a:prstGeom prst="rect">
            <a:avLst/>
          </a:prstGeom>
          <a:noFill/>
          <a:ln/>
        </p:spPr>
        <p:txBody>
          <a:bodyPr wrap="square" lIns="0" tIns="0" rIns="0" bIns="0" rtlCol="0" anchor="ctr"/>
          <a:lstStyle/>
          <a:p>
            <a:r>
              <a:rPr sz="1400" b="1">
                <a:solidFill>
                  <a:srgbClr val="9CA3AF"/>
                </a:solidFill>
                <a:latin typeface="Inter"/>
              </a:rPr>
              <a:t>STANDARD MVP / COMPETITORS</a:t>
            </a:r>
          </a:p>
        </p:txBody>
      </p:sp>
      <p:sp>
        <p:nvSpPr>
          <p:cNvPr id="15" name="Shape 9"/>
          <p:cNvSpPr/>
          <p:nvPr/>
        </p:nvSpPr>
        <p:spPr>
          <a:xfrm>
            <a:off x="6208776" y="1645920"/>
            <a:ext cx="5413248" cy="3657600"/>
          </a:xfrm>
          <a:prstGeom prst="roundRect">
            <a:avLst>
              <a:gd name="adj" fmla="val 1250"/>
            </a:avLst>
          </a:prstGeom>
          <a:solidFill>
            <a:srgbClr val="F9FAFB"/>
          </a:solidFill>
          <a:ln w="12700">
            <a:solidFill>
              <a:srgbClr val="E5E7EB"/>
            </a:solidFill>
            <a:prstDash val="solid"/>
          </a:ln>
          <a:effectLst>
            <a:outerShdw blurRad="88900" dist="25400" dir="5400000" algn="bl" rotWithShape="0">
              <a:srgbClr val="111827">
                <a:alpha val="7000"/>
              </a:srgbClr>
            </a:outerShdw>
          </a:effectLst>
        </p:spPr>
        <p:txBody>
          <a:bodyPr/>
          <a:p/>
        </p:txBody>
      </p:sp>
      <p:pic>
        <p:nvPicPr>
          <p:cNvPr id="16" name="Image 4" descr="preencoded.png"/>
          <p:cNvPicPr>
            <a:picLocks noChangeAspect="1"/>
          </p:cNvPicPr>
          <p:nvPr/>
        </p:nvPicPr>
        <p:blipFill>
          <a:blip r:embed="rId4"/>
          <a:stretch>
            <a:fillRect/>
          </a:stretch>
        </p:blipFill>
        <p:spPr>
          <a:xfrm>
            <a:off x="6510528" y="1901952"/>
            <a:ext cx="310896" cy="310896"/>
          </a:xfrm>
          <a:prstGeom prst="rect">
            <a:avLst/>
          </a:prstGeom>
        </p:spPr>
      </p:pic>
      <p:sp>
        <p:nvSpPr>
          <p:cNvPr id="17" name="Text 10"/>
          <p:cNvSpPr/>
          <p:nvPr/>
        </p:nvSpPr>
        <p:spPr>
          <a:xfrm>
            <a:off x="6912864" y="1874520"/>
            <a:ext cx="4206240" cy="365760"/>
          </a:xfrm>
          <a:prstGeom prst="rect">
            <a:avLst/>
          </a:prstGeom>
          <a:noFill/>
          <a:ln/>
        </p:spPr>
        <p:txBody>
          <a:bodyPr wrap="square" lIns="0" tIns="0" rIns="0" bIns="0" rtlCol="0" anchor="ctr"/>
          <a:lstStyle/>
          <a:p>
            <a:pPr marL="0" indent="0">
              <a:buNone/>
            </a:pPr>
            <a:r>
              <a:rPr lang="en-US" sz="1400" b="1" kern="0" spc="200" dirty="0">
                <a:solidFill>
                  <a:srgbClr val="111827"/>
                </a:solidFill>
                <a:latin typeface="Inter" pitchFamily="34" charset="0"/>
                <a:ea typeface="Inter" pitchFamily="34" charset="-122"/>
                <a:cs typeface="Inter" pitchFamily="34" charset="-120"/>
              </a:rPr>
              <a:t>ATLAS</a:t>
            </a:r>
            <a:endParaRPr lang="en-US" sz="1400" dirty="0"/>
          </a:p>
        </p:txBody>
      </p:sp>
      <p:sp>
        <p:nvSpPr>
          <p:cNvPr id="26" name="Text 15"/>
          <p:cNvSpPr/>
          <p:nvPr/>
        </p:nvSpPr>
        <p:spPr>
          <a:xfrm>
            <a:off x="566928" y="5532120"/>
            <a:ext cx="11064240" cy="548640"/>
          </a:xfrm>
          <a:prstGeom prst="rect">
            <a:avLst/>
          </a:prstGeom>
          <a:noFill/>
          <a:ln/>
        </p:spPr>
        <p:txBody>
          <a:bodyPr wrap="square" lIns="0" tIns="0" rIns="0" bIns="0" rtlCol="0" anchor="ctr"/>
          <a:lstStyle/>
          <a:p>
            <a:pPr marL="0" indent="0" algn="ctr">
              <a:buNone/>
            </a:pPr>
            <a:r>
              <a:rPr lang="en-US" sz="1600" i="1" dirty="0">
                <a:solidFill>
                  <a:srgbClr val="6B7280"/>
                </a:solidFill>
                <a:latin typeface="Inter" pitchFamily="34" charset="0"/>
                <a:ea typeface="Inter" pitchFamily="34" charset="-122"/>
                <a:cs typeface="Inter" pitchFamily="34" charset="-120"/>
              </a:rPr>
              <a:t>A dashboard tells you there's a problem.  </a:t>
            </a:r>
            <a:r>
              <a:rPr lang="en-US" sz="1600" b="1" i="1" dirty="0">
                <a:solidFill>
                  <a:srgbClr val="C2785F"/>
                </a:solidFill>
                <a:latin typeface="Inter" pitchFamily="34" charset="0"/>
                <a:ea typeface="Inter" pitchFamily="34" charset="-122"/>
                <a:cs typeface="Inter" pitchFamily="34" charset="-120"/>
              </a:rPr>
              <a:t>Atlas tells you what to do — and does it.</a:t>
            </a:r>
            <a:endParaRPr lang="en-US" sz="1600" dirty="0"/>
          </a:p>
        </p:txBody>
      </p:sp>
      <p:sp>
        <p:nvSpPr>
          <p:cNvPr id="28" name="Text 17"/>
          <p:cNvSpPr/>
          <p:nvPr/>
        </p:nvSpPr>
        <p:spPr>
          <a:xfrm>
            <a:off x="10424160" y="6455664"/>
            <a:ext cx="1371600" cy="274320"/>
          </a:xfrm>
          <a:prstGeom prst="rect">
            <a:avLst/>
          </a:prstGeom>
          <a:noFill/>
          <a:ln/>
        </p:spPr>
        <p:txBody>
          <a:bodyPr wrap="square" lIns="0" tIns="0" rIns="0" bIns="0" rtlCol="0" anchor="ctr"/>
          <a:lstStyle/>
          <a:p>
            <a:pPr algn="r"/>
            <a:r>
              <a:rPr sz="900">
                <a:solidFill>
                  <a:srgbClr val="9CA3AF"/>
                </a:solidFill>
                <a:latin typeface="Consolas"/>
              </a:rPr>
              <a:t>10 / 11</a:t>
            </a:r>
          </a:p>
        </p:txBody>
      </p:sp>
      <p:sp>
        <p:nvSpPr>
          <p:cNvPr id="29" name="Text 21">
            <a:extLst>
              <a:ext uri="{FF2B5EF4-FFF2-40B4-BE49-F238E27FC236}">
                <a16:creationId xmlns:a16="http://schemas.microsoft.com/office/drawing/2014/main" id="{ECB5AB5E-BDD5-0333-D61D-E38DDB5B0B98}"/>
              </a:ext>
            </a:extLst>
          </p:cNvPr>
          <p:cNvSpPr/>
          <p:nvPr/>
        </p:nvSpPr>
        <p:spPr>
          <a:xfrm>
            <a:off x="1589363" y="6400906"/>
            <a:ext cx="5486400" cy="274320"/>
          </a:xfrm>
          <a:prstGeom prst="rect">
            <a:avLst/>
          </a:prstGeom>
          <a:noFill/>
          <a:ln/>
        </p:spPr>
        <p:txBody>
          <a:bodyPr wrap="square" lIns="0" tIns="0" rIns="0" bIns="0" rtlCol="0" anchor="ctr"/>
          <a:lstStyle/>
          <a:p>
            <a:pPr marL="0" indent="0">
              <a:buNone/>
            </a:pPr>
            <a:r>
              <a:rPr lang="en-US" sz="900" dirty="0">
                <a:solidFill>
                  <a:srgbClr val="9CA3AF"/>
                </a:solidFill>
                <a:latin typeface="Consolas" pitchFamily="34" charset="0"/>
                <a:ea typeface="Consolas" pitchFamily="34" charset="-122"/>
                <a:cs typeface="Consolas" pitchFamily="34" charset="-120"/>
              </a:rPr>
              <a:t>BTP · CMD</a:t>
            </a:r>
            <a:endParaRPr lang="en-US" sz="900" dirty="0"/>
          </a:p>
        </p:txBody>
      </p:sp>
      <p:pic>
        <p:nvPicPr>
          <p:cNvPr id="30" name="Picture 29" descr="A black and white logo&#10;&#10;AI-generated content may be incorrect.">
            <a:extLst>
              <a:ext uri="{FF2B5EF4-FFF2-40B4-BE49-F238E27FC236}">
                <a16:creationId xmlns:a16="http://schemas.microsoft.com/office/drawing/2014/main" id="{DB91D01D-B830-3368-7155-A8E51FFFF313}"/>
              </a:ext>
            </a:extLst>
          </p:cNvPr>
          <p:cNvPicPr>
            <a:picLocks noChangeAspect="1"/>
          </p:cNvPicPr>
          <p:nvPr/>
        </p:nvPicPr>
        <p:blipFill>
          <a:blip r:embed="rId6"/>
          <a:stretch>
            <a:fillRect/>
          </a:stretch>
        </p:blipFill>
        <p:spPr>
          <a:xfrm>
            <a:off x="548640" y="6291072"/>
            <a:ext cx="925421" cy="493989"/>
          </a:xfrm>
          <a:prstGeom prst="rect">
            <a:avLst/>
          </a:prstGeom>
        </p:spPr>
      </p:pic>
      <p:pic>
        <p:nvPicPr>
          <p:cNvPr id="31" name="Picture 30" descr="image.png"/>
          <p:cNvPicPr>
            <a:picLocks noChangeAspect="1"/>
          </p:cNvPicPr>
          <p:nvPr/>
        </p:nvPicPr>
        <p:blipFill>
          <a:blip r:embed="rId3"/>
          <a:stretch>
            <a:fillRect/>
          </a:stretch>
        </p:blipFill>
        <p:spPr>
          <a:xfrm>
            <a:off x="896112" y="2304288"/>
            <a:ext cx="274320" cy="274320"/>
          </a:xfrm>
          <a:prstGeom prst="rect">
            <a:avLst/>
          </a:prstGeom>
        </p:spPr>
      </p:pic>
      <p:sp>
        <p:nvSpPr>
          <p:cNvPr id="32" name="TextBox 31"/>
          <p:cNvSpPr txBox="1"/>
          <p:nvPr/>
        </p:nvSpPr>
        <p:spPr>
          <a:xfrm>
            <a:off x="1335024" y="2286000"/>
            <a:ext cx="4434840" cy="384048"/>
          </a:xfrm>
          <a:prstGeom prst="rect">
            <a:avLst/>
          </a:prstGeom>
          <a:noFill/>
        </p:spPr>
        <p:txBody>
          <a:bodyPr wrap="square" lIns="0" tIns="0" rIns="0" bIns="0">
            <a:spAutoFit/>
          </a:bodyPr>
          <a:lstStyle/>
          <a:p>
            <a:r>
              <a:rPr sz="1050" b="1">
                <a:solidFill>
                  <a:srgbClr val="6B7280"/>
                </a:solidFill>
                <a:latin typeface="Inter"/>
              </a:rPr>
              <a:t>Historical Data Only:</a:t>
            </a:r>
            <a:r>
              <a:rPr sz="1050" b="0">
                <a:solidFill>
                  <a:srgbClr val="6B7280"/>
                </a:solidFill>
                <a:latin typeface="Inter"/>
              </a:rPr>
              <a:t> Plots static violation averages without real-time predictive sequence modeling</a:t>
            </a:r>
          </a:p>
        </p:txBody>
      </p:sp>
      <p:pic>
        <p:nvPicPr>
          <p:cNvPr id="33" name="Picture 32" descr="image.png"/>
          <p:cNvPicPr>
            <a:picLocks noChangeAspect="1"/>
          </p:cNvPicPr>
          <p:nvPr/>
        </p:nvPicPr>
        <p:blipFill>
          <a:blip r:embed="rId5"/>
          <a:stretch>
            <a:fillRect/>
          </a:stretch>
        </p:blipFill>
        <p:spPr>
          <a:xfrm>
            <a:off x="6510528" y="2304288"/>
            <a:ext cx="274320" cy="274320"/>
          </a:xfrm>
          <a:prstGeom prst="rect">
            <a:avLst/>
          </a:prstGeom>
        </p:spPr>
      </p:pic>
      <p:sp>
        <p:nvSpPr>
          <p:cNvPr id="34" name="TextBox 33"/>
          <p:cNvSpPr txBox="1"/>
          <p:nvPr/>
        </p:nvSpPr>
        <p:spPr>
          <a:xfrm>
            <a:off x="6949440" y="2286000"/>
            <a:ext cx="4526280" cy="384048"/>
          </a:xfrm>
          <a:prstGeom prst="rect">
            <a:avLst/>
          </a:prstGeom>
          <a:noFill/>
        </p:spPr>
        <p:txBody>
          <a:bodyPr wrap="square" lIns="0" tIns="0" rIns="0" bIns="0">
            <a:spAutoFit/>
          </a:bodyPr>
          <a:lstStyle/>
          <a:p>
            <a:r>
              <a:rPr sz="1050" b="1">
                <a:solidFill>
                  <a:srgbClr val="111827"/>
                </a:solidFill>
                <a:latin typeface="Inter"/>
              </a:rPr>
              <a:t>ST-GATv2 Graph Net:</a:t>
            </a:r>
            <a:r>
              <a:rPr sz="1050" b="1">
                <a:solidFill>
                  <a:srgbClr val="111827"/>
                </a:solidFill>
                <a:latin typeface="Inter"/>
              </a:rPr>
              <a:t> Integrates learnable road topology matrices (A_adaptive) to predict next-shift risk</a:t>
            </a:r>
          </a:p>
        </p:txBody>
      </p:sp>
      <p:pic>
        <p:nvPicPr>
          <p:cNvPr id="35" name="Picture 34" descr="image.png"/>
          <p:cNvPicPr>
            <a:picLocks noChangeAspect="1"/>
          </p:cNvPicPr>
          <p:nvPr/>
        </p:nvPicPr>
        <p:blipFill>
          <a:blip r:embed="rId3"/>
          <a:stretch>
            <a:fillRect/>
          </a:stretch>
        </p:blipFill>
        <p:spPr>
          <a:xfrm>
            <a:off x="896112" y="2779776"/>
            <a:ext cx="274320" cy="274320"/>
          </a:xfrm>
          <a:prstGeom prst="rect">
            <a:avLst/>
          </a:prstGeom>
        </p:spPr>
      </p:pic>
      <p:sp>
        <p:nvSpPr>
          <p:cNvPr id="36" name="TextBox 35"/>
          <p:cNvSpPr txBox="1"/>
          <p:nvPr/>
        </p:nvSpPr>
        <p:spPr>
          <a:xfrm>
            <a:off x="1335024" y="2761488"/>
            <a:ext cx="4434840" cy="384048"/>
          </a:xfrm>
          <a:prstGeom prst="rect">
            <a:avLst/>
          </a:prstGeom>
          <a:noFill/>
        </p:spPr>
        <p:txBody>
          <a:bodyPr wrap="square" lIns="0" tIns="0" rIns="0" bIns="0">
            <a:spAutoFit/>
          </a:bodyPr>
          <a:lstStyle/>
          <a:p>
            <a:r>
              <a:rPr sz="1050" b="1">
                <a:solidFill>
                  <a:srgbClr val="6B7280"/>
                </a:solidFill>
                <a:latin typeface="Inter"/>
              </a:rPr>
              <a:t>Manual Patrol Scheduling:</a:t>
            </a:r>
            <a:r>
              <a:rPr sz="1050" b="0">
                <a:solidFill>
                  <a:srgbClr val="6B7280"/>
                </a:solidFill>
                <a:latin typeface="Inter"/>
              </a:rPr>
              <a:t> Relies on manual dispatcher heuristics and static geographic bounds</a:t>
            </a:r>
          </a:p>
        </p:txBody>
      </p:sp>
      <p:pic>
        <p:nvPicPr>
          <p:cNvPr id="37" name="Picture 36" descr="image.png"/>
          <p:cNvPicPr>
            <a:picLocks noChangeAspect="1"/>
          </p:cNvPicPr>
          <p:nvPr/>
        </p:nvPicPr>
        <p:blipFill>
          <a:blip r:embed="rId5"/>
          <a:stretch>
            <a:fillRect/>
          </a:stretch>
        </p:blipFill>
        <p:spPr>
          <a:xfrm>
            <a:off x="6510528" y="2779776"/>
            <a:ext cx="274320" cy="274320"/>
          </a:xfrm>
          <a:prstGeom prst="rect">
            <a:avLst/>
          </a:prstGeom>
        </p:spPr>
      </p:pic>
      <p:sp>
        <p:nvSpPr>
          <p:cNvPr id="38" name="TextBox 37"/>
          <p:cNvSpPr txBox="1"/>
          <p:nvPr/>
        </p:nvSpPr>
        <p:spPr>
          <a:xfrm>
            <a:off x="6949440" y="2761488"/>
            <a:ext cx="4526280" cy="384048"/>
          </a:xfrm>
          <a:prstGeom prst="rect">
            <a:avLst/>
          </a:prstGeom>
          <a:noFill/>
        </p:spPr>
        <p:txBody>
          <a:bodyPr wrap="square" lIns="0" tIns="0" rIns="0" bIns="0">
            <a:spAutoFit/>
          </a:bodyPr>
          <a:lstStyle/>
          <a:p>
            <a:r>
              <a:rPr sz="1050" b="1">
                <a:solidFill>
                  <a:srgbClr val="111827"/>
                </a:solidFill>
                <a:latin typeface="Inter"/>
              </a:rPr>
              <a:t>SciPy MILP Dispatch Solver:</a:t>
            </a:r>
            <a:r>
              <a:rPr sz="1050" b="1">
                <a:solidFill>
                  <a:srgbClr val="111827"/>
                </a:solidFill>
                <a:latin typeface="Inter"/>
              </a:rPr>
              <a:t> Optimizes officer allocation subject to capacity and station limits</a:t>
            </a:r>
          </a:p>
        </p:txBody>
      </p:sp>
      <p:pic>
        <p:nvPicPr>
          <p:cNvPr id="39" name="Picture 38" descr="image.png"/>
          <p:cNvPicPr>
            <a:picLocks noChangeAspect="1"/>
          </p:cNvPicPr>
          <p:nvPr/>
        </p:nvPicPr>
        <p:blipFill>
          <a:blip r:embed="rId3"/>
          <a:stretch>
            <a:fillRect/>
          </a:stretch>
        </p:blipFill>
        <p:spPr>
          <a:xfrm>
            <a:off x="896112" y="3255264"/>
            <a:ext cx="274320" cy="274320"/>
          </a:xfrm>
          <a:prstGeom prst="rect">
            <a:avLst/>
          </a:prstGeom>
        </p:spPr>
      </p:pic>
      <p:sp>
        <p:nvSpPr>
          <p:cNvPr id="40" name="TextBox 39"/>
          <p:cNvSpPr txBox="1"/>
          <p:nvPr/>
        </p:nvSpPr>
        <p:spPr>
          <a:xfrm>
            <a:off x="1335024" y="3236976"/>
            <a:ext cx="4434840" cy="384048"/>
          </a:xfrm>
          <a:prstGeom prst="rect">
            <a:avLst/>
          </a:prstGeom>
          <a:noFill/>
        </p:spPr>
        <p:txBody>
          <a:bodyPr wrap="square" lIns="0" tIns="0" rIns="0" bIns="0">
            <a:spAutoFit/>
          </a:bodyPr>
          <a:lstStyle/>
          <a:p>
            <a:r>
              <a:rPr sz="1050" b="1">
                <a:solidFill>
                  <a:srgbClr val="6B7280"/>
                </a:solidFill>
                <a:latin typeface="Inter"/>
              </a:rPr>
              <a:t>No Topographic Awareness:</a:t>
            </a:r>
            <a:r>
              <a:rPr sz="1050" b="0">
                <a:solidFill>
                  <a:srgbClr val="6B7280"/>
                </a:solidFill>
                <a:latin typeface="Inter"/>
              </a:rPr>
              <a:t> Ignores road elevation gradients that constrict narrow corridor capacity</a:t>
            </a:r>
          </a:p>
        </p:txBody>
      </p:sp>
      <p:pic>
        <p:nvPicPr>
          <p:cNvPr id="41" name="Picture 40" descr="image.png"/>
          <p:cNvPicPr>
            <a:picLocks noChangeAspect="1"/>
          </p:cNvPicPr>
          <p:nvPr/>
        </p:nvPicPr>
        <p:blipFill>
          <a:blip r:embed="rId5"/>
          <a:stretch>
            <a:fillRect/>
          </a:stretch>
        </p:blipFill>
        <p:spPr>
          <a:xfrm>
            <a:off x="6510528" y="3255264"/>
            <a:ext cx="274320" cy="274320"/>
          </a:xfrm>
          <a:prstGeom prst="rect">
            <a:avLst/>
          </a:prstGeom>
        </p:spPr>
      </p:pic>
      <p:sp>
        <p:nvSpPr>
          <p:cNvPr id="42" name="TextBox 41"/>
          <p:cNvSpPr txBox="1"/>
          <p:nvPr/>
        </p:nvSpPr>
        <p:spPr>
          <a:xfrm>
            <a:off x="6949440" y="3236976"/>
            <a:ext cx="4526280" cy="384048"/>
          </a:xfrm>
          <a:prstGeom prst="rect">
            <a:avLst/>
          </a:prstGeom>
          <a:noFill/>
        </p:spPr>
        <p:txBody>
          <a:bodyPr wrap="square" lIns="0" tIns="0" rIns="0" bIns="0">
            <a:spAutoFit/>
          </a:bodyPr>
          <a:lstStyle/>
          <a:p>
            <a:r>
              <a:rPr sz="1050" b="1">
                <a:solidFill>
                  <a:srgbClr val="111827"/>
                </a:solidFill>
                <a:latin typeface="Inter"/>
              </a:rPr>
              <a:t>Mappls Terrain Snapping:</a:t>
            </a:r>
            <a:r>
              <a:rPr sz="1050" b="1">
                <a:solidFill>
                  <a:srgbClr val="111827"/>
                </a:solidFill>
                <a:latin typeface="Inter"/>
              </a:rPr>
              <a:t> Models slope gradeability speed restrictions via cached elevation APIs</a:t>
            </a:r>
          </a:p>
        </p:txBody>
      </p:sp>
      <p:pic>
        <p:nvPicPr>
          <p:cNvPr id="43" name="Picture 42" descr="image.png"/>
          <p:cNvPicPr>
            <a:picLocks noChangeAspect="1"/>
          </p:cNvPicPr>
          <p:nvPr/>
        </p:nvPicPr>
        <p:blipFill>
          <a:blip r:embed="rId3"/>
          <a:stretch>
            <a:fillRect/>
          </a:stretch>
        </p:blipFill>
        <p:spPr>
          <a:xfrm>
            <a:off x="896112" y="3730752"/>
            <a:ext cx="274320" cy="274320"/>
          </a:xfrm>
          <a:prstGeom prst="rect">
            <a:avLst/>
          </a:prstGeom>
        </p:spPr>
      </p:pic>
      <p:sp>
        <p:nvSpPr>
          <p:cNvPr id="44" name="TextBox 43"/>
          <p:cNvSpPr txBox="1"/>
          <p:nvPr/>
        </p:nvSpPr>
        <p:spPr>
          <a:xfrm>
            <a:off x="1335024" y="3712464"/>
            <a:ext cx="4434840" cy="384048"/>
          </a:xfrm>
          <a:prstGeom prst="rect">
            <a:avLst/>
          </a:prstGeom>
          <a:noFill/>
        </p:spPr>
        <p:txBody>
          <a:bodyPr wrap="square" lIns="0" tIns="0" rIns="0" bIns="0">
            <a:spAutoFit/>
          </a:bodyPr>
          <a:lstStyle/>
          <a:p>
            <a:r>
              <a:rPr sz="1050" b="1">
                <a:solidFill>
                  <a:srgbClr val="6B7280"/>
                </a:solidFill>
                <a:latin typeface="Inter"/>
              </a:rPr>
              <a:t>Logistics Blindspot:</a:t>
            </a:r>
            <a:r>
              <a:rPr sz="1050" b="0">
                <a:solidFill>
                  <a:srgbClr val="6B7280"/>
                </a:solidFill>
                <a:latin typeface="Inter"/>
              </a:rPr>
              <a:t> Treats logistics routes and Flipkart supply hubs as standard consumer traffic</a:t>
            </a:r>
          </a:p>
        </p:txBody>
      </p:sp>
      <p:pic>
        <p:nvPicPr>
          <p:cNvPr id="45" name="Picture 44" descr="image.png"/>
          <p:cNvPicPr>
            <a:picLocks noChangeAspect="1"/>
          </p:cNvPicPr>
          <p:nvPr/>
        </p:nvPicPr>
        <p:blipFill>
          <a:blip r:embed="rId5"/>
          <a:stretch>
            <a:fillRect/>
          </a:stretch>
        </p:blipFill>
        <p:spPr>
          <a:xfrm>
            <a:off x="6510528" y="3730752"/>
            <a:ext cx="274320" cy="274320"/>
          </a:xfrm>
          <a:prstGeom prst="rect">
            <a:avLst/>
          </a:prstGeom>
        </p:spPr>
      </p:pic>
      <p:sp>
        <p:nvSpPr>
          <p:cNvPr id="46" name="TextBox 45"/>
          <p:cNvSpPr txBox="1"/>
          <p:nvPr/>
        </p:nvSpPr>
        <p:spPr>
          <a:xfrm>
            <a:off x="6949440" y="3712464"/>
            <a:ext cx="4526280" cy="384048"/>
          </a:xfrm>
          <a:prstGeom prst="rect">
            <a:avLst/>
          </a:prstGeom>
          <a:noFill/>
        </p:spPr>
        <p:txBody>
          <a:bodyPr wrap="square" lIns="0" tIns="0" rIns="0" bIns="0">
            <a:spAutoFit/>
          </a:bodyPr>
          <a:lstStyle/>
          <a:p>
            <a:r>
              <a:rPr sz="1050" b="1">
                <a:solidFill>
                  <a:srgbClr val="111827"/>
                </a:solidFill>
                <a:latin typeface="Inter"/>
              </a:rPr>
              <a:t>Logistics Penalty Index (LPI):</a:t>
            </a:r>
            <a:r>
              <a:rPr sz="1050" b="1">
                <a:solidFill>
                  <a:srgbClr val="111827"/>
                </a:solidFill>
                <a:latin typeface="Inter"/>
              </a:rPr>
              <a:t> Prioritizes routes using snapped Flipkart hubs and logistics matrices</a:t>
            </a:r>
          </a:p>
        </p:txBody>
      </p:sp>
      <p:pic>
        <p:nvPicPr>
          <p:cNvPr id="47" name="Picture 46" descr="image.png"/>
          <p:cNvPicPr>
            <a:picLocks noChangeAspect="1"/>
          </p:cNvPicPr>
          <p:nvPr/>
        </p:nvPicPr>
        <p:blipFill>
          <a:blip r:embed="rId3"/>
          <a:stretch>
            <a:fillRect/>
          </a:stretch>
        </p:blipFill>
        <p:spPr>
          <a:xfrm>
            <a:off x="896112" y="4206240"/>
            <a:ext cx="274320" cy="274320"/>
          </a:xfrm>
          <a:prstGeom prst="rect">
            <a:avLst/>
          </a:prstGeom>
        </p:spPr>
      </p:pic>
      <p:sp>
        <p:nvSpPr>
          <p:cNvPr id="48" name="TextBox 47"/>
          <p:cNvSpPr txBox="1"/>
          <p:nvPr/>
        </p:nvSpPr>
        <p:spPr>
          <a:xfrm>
            <a:off x="1335024" y="4187952"/>
            <a:ext cx="4434840" cy="384048"/>
          </a:xfrm>
          <a:prstGeom prst="rect">
            <a:avLst/>
          </a:prstGeom>
          <a:noFill/>
        </p:spPr>
        <p:txBody>
          <a:bodyPr wrap="square" lIns="0" tIns="0" rIns="0" bIns="0">
            <a:spAutoFit/>
          </a:bodyPr>
          <a:lstStyle/>
          <a:p>
            <a:r>
              <a:rPr sz="1050" b="1">
                <a:solidFill>
                  <a:srgbClr val="6B7280"/>
                </a:solidFill>
                <a:latin typeface="Inter"/>
              </a:rPr>
              <a:t>Reactive Dispatch Loop:</a:t>
            </a:r>
            <a:r>
              <a:rPr sz="1050" b="0">
                <a:solidFill>
                  <a:srgbClr val="6B7280"/>
                </a:solidFill>
                <a:latin typeface="Inter"/>
              </a:rPr>
              <a:t> Deploys officers after a bottleneck forms, cascading delays downstream</a:t>
            </a:r>
          </a:p>
        </p:txBody>
      </p:sp>
      <p:pic>
        <p:nvPicPr>
          <p:cNvPr id="49" name="Picture 48" descr="image.png"/>
          <p:cNvPicPr>
            <a:picLocks noChangeAspect="1"/>
          </p:cNvPicPr>
          <p:nvPr/>
        </p:nvPicPr>
        <p:blipFill>
          <a:blip r:embed="rId5"/>
          <a:stretch>
            <a:fillRect/>
          </a:stretch>
        </p:blipFill>
        <p:spPr>
          <a:xfrm>
            <a:off x="6510528" y="4206240"/>
            <a:ext cx="274320" cy="274320"/>
          </a:xfrm>
          <a:prstGeom prst="rect">
            <a:avLst/>
          </a:prstGeom>
        </p:spPr>
      </p:pic>
      <p:sp>
        <p:nvSpPr>
          <p:cNvPr id="50" name="TextBox 49"/>
          <p:cNvSpPr txBox="1"/>
          <p:nvPr/>
        </p:nvSpPr>
        <p:spPr>
          <a:xfrm>
            <a:off x="6949440" y="4187952"/>
            <a:ext cx="4526280" cy="384048"/>
          </a:xfrm>
          <a:prstGeom prst="rect">
            <a:avLst/>
          </a:prstGeom>
          <a:noFill/>
        </p:spPr>
        <p:txBody>
          <a:bodyPr wrap="square" lIns="0" tIns="0" rIns="0" bIns="0">
            <a:spAutoFit/>
          </a:bodyPr>
          <a:lstStyle/>
          <a:p>
            <a:r>
              <a:rPr sz="1050" b="1">
                <a:solidFill>
                  <a:srgbClr val="111827"/>
                </a:solidFill>
                <a:latin typeface="Inter"/>
              </a:rPr>
              <a:t>Greenshields Flow Simulation:</a:t>
            </a:r>
            <a:r>
              <a:rPr sz="1050" b="1">
                <a:solidFill>
                  <a:srgbClr val="111827"/>
                </a:solidFill>
                <a:latin typeface="Inter"/>
              </a:rPr>
              <a:t> Predicts queue shockwaves to calculate counterfactual vehicle-hour savings</a:t>
            </a:r>
          </a:p>
        </p:txBody>
      </p:sp>
      <p:pic>
        <p:nvPicPr>
          <p:cNvPr id="51" name="Picture 50" descr="image.png"/>
          <p:cNvPicPr>
            <a:picLocks noChangeAspect="1"/>
          </p:cNvPicPr>
          <p:nvPr/>
        </p:nvPicPr>
        <p:blipFill>
          <a:blip r:embed="rId3"/>
          <a:stretch>
            <a:fillRect/>
          </a:stretch>
        </p:blipFill>
        <p:spPr>
          <a:xfrm>
            <a:off x="896112" y="4681727"/>
            <a:ext cx="274320" cy="274320"/>
          </a:xfrm>
          <a:prstGeom prst="rect">
            <a:avLst/>
          </a:prstGeom>
        </p:spPr>
      </p:pic>
      <p:sp>
        <p:nvSpPr>
          <p:cNvPr id="52" name="TextBox 51"/>
          <p:cNvSpPr txBox="1"/>
          <p:nvPr/>
        </p:nvSpPr>
        <p:spPr>
          <a:xfrm>
            <a:off x="1335024" y="4663440"/>
            <a:ext cx="4434840" cy="384048"/>
          </a:xfrm>
          <a:prstGeom prst="rect">
            <a:avLst/>
          </a:prstGeom>
          <a:noFill/>
        </p:spPr>
        <p:txBody>
          <a:bodyPr wrap="square" lIns="0" tIns="0" rIns="0" bIns="0">
            <a:spAutoFit/>
          </a:bodyPr>
          <a:lstStyle/>
          <a:p>
            <a:r>
              <a:rPr sz="1050" b="1">
                <a:solidFill>
                  <a:srgbClr val="6B7280"/>
                </a:solidFill>
                <a:latin typeface="Inter"/>
              </a:rPr>
              <a:t>Black Box Operations:</a:t>
            </a:r>
            <a:r>
              <a:rPr sz="1050" b="0">
                <a:solidFill>
                  <a:srgbClr val="6B7280"/>
                </a:solidFill>
                <a:latin typeface="Inter"/>
              </a:rPr>
              <a:t> Provides static data feeds without explainable reasoning or interactive copilot</a:t>
            </a:r>
          </a:p>
        </p:txBody>
      </p:sp>
      <p:pic>
        <p:nvPicPr>
          <p:cNvPr id="53" name="Picture 52" descr="image.png"/>
          <p:cNvPicPr>
            <a:picLocks noChangeAspect="1"/>
          </p:cNvPicPr>
          <p:nvPr/>
        </p:nvPicPr>
        <p:blipFill>
          <a:blip r:embed="rId5"/>
          <a:stretch>
            <a:fillRect/>
          </a:stretch>
        </p:blipFill>
        <p:spPr>
          <a:xfrm>
            <a:off x="6510528" y="4681727"/>
            <a:ext cx="274320" cy="274320"/>
          </a:xfrm>
          <a:prstGeom prst="rect">
            <a:avLst/>
          </a:prstGeom>
        </p:spPr>
      </p:pic>
      <p:sp>
        <p:nvSpPr>
          <p:cNvPr id="54" name="TextBox 53"/>
          <p:cNvSpPr txBox="1"/>
          <p:nvPr/>
        </p:nvSpPr>
        <p:spPr>
          <a:xfrm>
            <a:off x="6949440" y="4663440"/>
            <a:ext cx="4526280" cy="384048"/>
          </a:xfrm>
          <a:prstGeom prst="rect">
            <a:avLst/>
          </a:prstGeom>
          <a:noFill/>
        </p:spPr>
        <p:txBody>
          <a:bodyPr wrap="square" lIns="0" tIns="0" rIns="0" bIns="0">
            <a:spAutoFit/>
          </a:bodyPr>
          <a:lstStyle/>
          <a:p>
            <a:r>
              <a:rPr sz="1050" b="1">
                <a:solidFill>
                  <a:srgbClr val="111827"/>
                </a:solidFill>
                <a:latin typeface="Inter"/>
              </a:rPr>
              <a:t>AI Copilot Command Center:</a:t>
            </a:r>
            <a:r>
              <a:rPr sz="1050" b="1">
                <a:solidFill>
                  <a:srgbClr val="111827"/>
                </a:solidFill>
                <a:latin typeface="Inter"/>
              </a:rPr>
              <a:t> Explains enforcement suggestions and accepts commands in plain English</a:t>
            </a:r>
          </a:p>
        </p:txBody>
      </p:sp>
    </p:spTree>
  </p:cSld>
  <p:clrMapOvr>
    <a:masterClrMapping/>
  </p:clrMapOvr>
  <p:transition xmlns:p14="http://schemas.microsoft.com/office/powerpoint/2010/main" speed="fast">
    <p14:morph option="byObject"/>
  </p:transition>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9052560" y="548640"/>
            <a:ext cx="3108960" cy="3108960"/>
          </a:xfrm>
          <a:prstGeom prst="ellipse">
            <a:avLst/>
          </a:prstGeom>
          <a:solidFill>
            <a:srgbClr val="D9A406">
              <a:alpha val="10000"/>
            </a:srgbClr>
          </a:solidFill>
          <a:ln/>
        </p:spPr>
        <p:txBody>
          <a:bodyPr/>
          <a:p/>
        </p:txBody>
      </p:sp>
      <p:sp>
        <p:nvSpPr>
          <p:cNvPr id="3" name="Shape 1"/>
          <p:cNvSpPr/>
          <p:nvPr/>
        </p:nvSpPr>
        <p:spPr>
          <a:xfrm>
            <a:off x="9601200" y="1143000"/>
            <a:ext cx="2011680" cy="2011680"/>
          </a:xfrm>
          <a:prstGeom prst="ellipse">
            <a:avLst/>
          </a:prstGeom>
          <a:solidFill>
            <a:srgbClr val="EA580C">
              <a:alpha val="14000"/>
            </a:srgbClr>
          </a:solidFill>
          <a:ln/>
        </p:spPr>
        <p:txBody>
          <a:bodyPr/>
          <a:p/>
        </p:txBody>
      </p:sp>
      <p:sp>
        <p:nvSpPr>
          <p:cNvPr id="4" name="Shape 2"/>
          <p:cNvSpPr/>
          <p:nvPr/>
        </p:nvSpPr>
        <p:spPr>
          <a:xfrm>
            <a:off x="10104120" y="1645920"/>
            <a:ext cx="1005840" cy="1005840"/>
          </a:xfrm>
          <a:prstGeom prst="ellipse">
            <a:avLst/>
          </a:prstGeom>
          <a:solidFill>
            <a:srgbClr val="DC2626">
              <a:alpha val="20000"/>
            </a:srgbClr>
          </a:solidFill>
          <a:ln/>
        </p:spPr>
        <p:txBody>
          <a:bodyPr/>
          <a:p/>
        </p:txBody>
      </p:sp>
      <p:sp>
        <p:nvSpPr>
          <p:cNvPr id="5" name="Shape 3"/>
          <p:cNvSpPr/>
          <p:nvPr/>
        </p:nvSpPr>
        <p:spPr>
          <a:xfrm>
            <a:off x="566928" y="841248"/>
            <a:ext cx="118872" cy="118872"/>
          </a:xfrm>
          <a:prstGeom prst="rect">
            <a:avLst/>
          </a:prstGeom>
          <a:solidFill>
            <a:srgbClr val="C2785F"/>
          </a:solidFill>
          <a:ln/>
        </p:spPr>
        <p:txBody>
          <a:bodyPr/>
          <a:p/>
        </p:txBody>
      </p:sp>
      <p:sp>
        <p:nvSpPr>
          <p:cNvPr id="6" name="Text 4"/>
          <p:cNvSpPr/>
          <p:nvPr/>
        </p:nvSpPr>
        <p:spPr>
          <a:xfrm>
            <a:off x="768096" y="758952"/>
            <a:ext cx="5486400" cy="274320"/>
          </a:xfrm>
          <a:prstGeom prst="rect">
            <a:avLst/>
          </a:prstGeom>
          <a:noFill/>
          <a:ln/>
        </p:spPr>
        <p:txBody>
          <a:bodyPr wrap="square" lIns="0" tIns="0" rIns="0" bIns="0" rtlCol="0" anchor="ctr"/>
          <a:lstStyle/>
          <a:p>
            <a:pPr marL="0" indent="0">
              <a:buNone/>
            </a:pPr>
            <a:r>
              <a:rPr lang="en-US" sz="1300" b="1" kern="0" spc="400" dirty="0">
                <a:solidFill>
                  <a:srgbClr val="9CA3AF"/>
                </a:solidFill>
                <a:latin typeface="Inter" pitchFamily="34" charset="0"/>
                <a:ea typeface="Inter" pitchFamily="34" charset="-122"/>
                <a:cs typeface="Inter" pitchFamily="34" charset="-120"/>
              </a:rPr>
              <a:t>DEPLOY</a:t>
            </a:r>
            <a:endParaRPr lang="en-US" sz="1300" dirty="0"/>
          </a:p>
        </p:txBody>
      </p:sp>
      <p:sp>
        <p:nvSpPr>
          <p:cNvPr id="7" name="Text 5"/>
          <p:cNvSpPr/>
          <p:nvPr/>
        </p:nvSpPr>
        <p:spPr>
          <a:xfrm>
            <a:off x="548640" y="1097280"/>
            <a:ext cx="8412480" cy="777240"/>
          </a:xfrm>
          <a:prstGeom prst="rect">
            <a:avLst/>
          </a:prstGeom>
          <a:noFill/>
          <a:ln/>
        </p:spPr>
        <p:txBody>
          <a:bodyPr wrap="square" lIns="0" tIns="0" rIns="0" bIns="0" rtlCol="0" anchor="ctr"/>
          <a:lstStyle/>
          <a:p>
            <a:pPr marL="0" indent="0">
              <a:buNone/>
            </a:pPr>
            <a:r>
              <a:rPr lang="en-US" sz="3200" b="1" dirty="0">
                <a:solidFill>
                  <a:srgbClr val="FFFFFF"/>
                </a:solidFill>
                <a:latin typeface="Inter" pitchFamily="34" charset="0"/>
                <a:ea typeface="Inter" pitchFamily="34" charset="-122"/>
                <a:cs typeface="Inter" pitchFamily="34" charset="-120"/>
              </a:rPr>
              <a:t>From live console to city-wide rollout</a:t>
            </a:r>
            <a:endParaRPr lang="en-US" sz="3200" dirty="0"/>
          </a:p>
        </p:txBody>
      </p:sp>
      <p:sp>
        <p:nvSpPr>
          <p:cNvPr id="8" name="Text 6"/>
          <p:cNvSpPr/>
          <p:nvPr/>
        </p:nvSpPr>
        <p:spPr>
          <a:xfrm>
            <a:off x="566928" y="1965960"/>
            <a:ext cx="8595360" cy="868680"/>
          </a:xfrm>
          <a:prstGeom prst="rect">
            <a:avLst/>
          </a:prstGeom>
          <a:noFill/>
          <a:ln/>
        </p:spPr>
        <p:txBody>
          <a:bodyPr wrap="square" lIns="0" tIns="0" rIns="0" bIns="0" rtlCol="0" anchor="ctr"/>
          <a:lstStyle/>
          <a:p>
            <a:pPr marL="0" indent="0">
              <a:lnSpc>
                <a:spcPct val="120000"/>
              </a:lnSpc>
              <a:buNone/>
            </a:pPr>
            <a:r>
              <a:rPr lang="en-US" sz="1400" b="1" dirty="0">
                <a:solidFill>
                  <a:srgbClr val="FFFFFF"/>
                </a:solidFill>
                <a:latin typeface="Inter" pitchFamily="34" charset="0"/>
                <a:ea typeface="Inter" pitchFamily="34" charset="-122"/>
                <a:cs typeface="Inter" pitchFamily="34" charset="-120"/>
              </a:rPr>
              <a:t>Running today on Bengaluru data: </a:t>
            </a:r>
            <a:r>
              <a:rPr lang="en-US" sz="1400" dirty="0">
                <a:solidFill>
                  <a:srgbClr val="9CA3AF"/>
                </a:solidFill>
                <a:latin typeface="Consolas" pitchFamily="34" charset="0"/>
                <a:ea typeface="Consolas" pitchFamily="34" charset="-122"/>
                <a:cs typeface="Consolas" pitchFamily="34" charset="-120"/>
              </a:rPr>
              <a:t>COMMAND · PREDICT · OPTIMIZE · LOGISTICS · EXPLAIN · REPORTS · COPILOT</a:t>
            </a:r>
            <a:r>
              <a:rPr lang="en-US" sz="1400" dirty="0">
                <a:solidFill>
                  <a:srgbClr val="9CA3AF"/>
                </a:solidFill>
                <a:latin typeface="Inter" pitchFamily="34" charset="0"/>
                <a:ea typeface="Inter" pitchFamily="34" charset="-122"/>
                <a:cs typeface="Inter" pitchFamily="34" charset="-120"/>
              </a:rPr>
              <a:t>. It runs on standard traffic-feed data cities already collect.</a:t>
            </a:r>
            <a:endParaRPr lang="en-US" sz="1400" dirty="0"/>
          </a:p>
        </p:txBody>
      </p:sp>
      <p:sp>
        <p:nvSpPr>
          <p:cNvPr id="9" name="Text 7"/>
          <p:cNvSpPr/>
          <p:nvPr/>
        </p:nvSpPr>
        <p:spPr>
          <a:xfrm>
            <a:off x="566928" y="3063240"/>
            <a:ext cx="5486400" cy="274320"/>
          </a:xfrm>
          <a:prstGeom prst="rect">
            <a:avLst/>
          </a:prstGeom>
          <a:noFill/>
          <a:ln/>
        </p:spPr>
        <p:txBody>
          <a:bodyPr wrap="square" lIns="0" tIns="0" rIns="0" bIns="0" rtlCol="0" anchor="ctr"/>
          <a:lstStyle/>
          <a:p>
            <a:pPr marL="0" indent="0">
              <a:buNone/>
            </a:pPr>
            <a:r>
              <a:rPr lang="en-US" sz="1100" b="1" kern="0" spc="200" dirty="0">
                <a:solidFill>
                  <a:srgbClr val="9CA3AF"/>
                </a:solidFill>
                <a:latin typeface="Inter" pitchFamily="34" charset="0"/>
                <a:ea typeface="Inter" pitchFamily="34" charset="-122"/>
                <a:cs typeface="Inter" pitchFamily="34" charset="-120"/>
              </a:rPr>
              <a:t>ON THE ROADMAP</a:t>
            </a:r>
            <a:endParaRPr lang="en-US" sz="1100" dirty="0"/>
          </a:p>
        </p:txBody>
      </p:sp>
      <p:sp>
        <p:nvSpPr>
          <p:cNvPr id="10" name="Shape 8"/>
          <p:cNvSpPr/>
          <p:nvPr/>
        </p:nvSpPr>
        <p:spPr>
          <a:xfrm>
            <a:off x="566928" y="3401568"/>
            <a:ext cx="2234794" cy="512064"/>
          </a:xfrm>
          <a:prstGeom prst="roundRect">
            <a:avLst>
              <a:gd name="adj" fmla="val 10714"/>
            </a:avLst>
          </a:prstGeom>
          <a:solidFill>
            <a:srgbClr val="FFFFFF">
              <a:alpha val="10000"/>
            </a:srgbClr>
          </a:solidFill>
          <a:ln w="12700">
            <a:solidFill>
              <a:srgbClr val="FFFFFF">
                <a:alpha val="30000"/>
              </a:srgbClr>
            </a:solidFill>
            <a:prstDash val="solid"/>
          </a:ln>
        </p:spPr>
        <p:txBody>
          <a:bodyPr/>
          <a:p/>
        </p:txBody>
      </p:sp>
      <p:sp>
        <p:nvSpPr>
          <p:cNvPr id="11" name="Text 9"/>
          <p:cNvSpPr/>
          <p:nvPr/>
        </p:nvSpPr>
        <p:spPr>
          <a:xfrm>
            <a:off x="566928" y="3401568"/>
            <a:ext cx="2234794"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Inter" pitchFamily="34" charset="0"/>
                <a:ea typeface="Inter" pitchFamily="34" charset="-122"/>
                <a:cs typeface="Inter" pitchFamily="34" charset="-120"/>
              </a:rPr>
              <a:t>Scenario simulator</a:t>
            </a:r>
            <a:endParaRPr lang="en-US" sz="1250" dirty="0"/>
          </a:p>
        </p:txBody>
      </p:sp>
      <p:sp>
        <p:nvSpPr>
          <p:cNvPr id="12" name="Shape 10"/>
          <p:cNvSpPr/>
          <p:nvPr/>
        </p:nvSpPr>
        <p:spPr>
          <a:xfrm>
            <a:off x="3030322" y="3401568"/>
            <a:ext cx="1839773" cy="512064"/>
          </a:xfrm>
          <a:prstGeom prst="roundRect">
            <a:avLst>
              <a:gd name="adj" fmla="val 10714"/>
            </a:avLst>
          </a:prstGeom>
          <a:solidFill>
            <a:srgbClr val="FFFFFF">
              <a:alpha val="10000"/>
            </a:srgbClr>
          </a:solidFill>
          <a:ln w="12700">
            <a:solidFill>
              <a:srgbClr val="FFFFFF">
                <a:alpha val="30000"/>
              </a:srgbClr>
            </a:solidFill>
            <a:prstDash val="solid"/>
          </a:ln>
        </p:spPr>
        <p:txBody>
          <a:bodyPr/>
          <a:p/>
        </p:txBody>
      </p:sp>
      <p:sp>
        <p:nvSpPr>
          <p:cNvPr id="13" name="Text 11"/>
          <p:cNvSpPr/>
          <p:nvPr/>
        </p:nvSpPr>
        <p:spPr>
          <a:xfrm>
            <a:off x="3030322" y="3401568"/>
            <a:ext cx="1839773"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Inter" pitchFamily="34" charset="0"/>
                <a:ea typeface="Inter" pitchFamily="34" charset="-122"/>
                <a:cs typeface="Inter" pitchFamily="34" charset="-120"/>
              </a:rPr>
              <a:t>Mappls routing</a:t>
            </a:r>
            <a:endParaRPr lang="en-US" sz="1250" dirty="0"/>
          </a:p>
        </p:txBody>
      </p:sp>
      <p:sp>
        <p:nvSpPr>
          <p:cNvPr id="14" name="Shape 12"/>
          <p:cNvSpPr/>
          <p:nvPr/>
        </p:nvSpPr>
        <p:spPr>
          <a:xfrm>
            <a:off x="5098694" y="3401568"/>
            <a:ext cx="2037283" cy="512064"/>
          </a:xfrm>
          <a:prstGeom prst="roundRect">
            <a:avLst>
              <a:gd name="adj" fmla="val 10714"/>
            </a:avLst>
          </a:prstGeom>
          <a:solidFill>
            <a:srgbClr val="FFFFFF">
              <a:alpha val="10000"/>
            </a:srgbClr>
          </a:solidFill>
          <a:ln w="12700">
            <a:solidFill>
              <a:srgbClr val="FFFFFF">
                <a:alpha val="30000"/>
              </a:srgbClr>
            </a:solidFill>
            <a:prstDash val="solid"/>
          </a:ln>
        </p:spPr>
        <p:txBody>
          <a:bodyPr/>
          <a:p/>
        </p:txBody>
      </p:sp>
      <p:sp>
        <p:nvSpPr>
          <p:cNvPr id="15" name="Text 13"/>
          <p:cNvSpPr/>
          <p:nvPr/>
        </p:nvSpPr>
        <p:spPr>
          <a:xfrm>
            <a:off x="5098694" y="3401568"/>
            <a:ext cx="2037283"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Inter" pitchFamily="34" charset="0"/>
                <a:ea typeface="Inter" pitchFamily="34" charset="-122"/>
                <a:cs typeface="Inter" pitchFamily="34" charset="-120"/>
              </a:rPr>
              <a:t>Multi-city scale</a:t>
            </a:r>
            <a:endParaRPr lang="en-US" sz="1250" dirty="0"/>
          </a:p>
        </p:txBody>
      </p:sp>
      <p:sp>
        <p:nvSpPr>
          <p:cNvPr id="16" name="Shape 14"/>
          <p:cNvSpPr/>
          <p:nvPr/>
        </p:nvSpPr>
        <p:spPr>
          <a:xfrm>
            <a:off x="7364578" y="3401568"/>
            <a:ext cx="1938528" cy="512064"/>
          </a:xfrm>
          <a:prstGeom prst="roundRect">
            <a:avLst>
              <a:gd name="adj" fmla="val 10714"/>
            </a:avLst>
          </a:prstGeom>
          <a:solidFill>
            <a:srgbClr val="FFFFFF">
              <a:alpha val="10000"/>
            </a:srgbClr>
          </a:solidFill>
          <a:ln w="12700">
            <a:solidFill>
              <a:srgbClr val="FFFFFF">
                <a:alpha val="30000"/>
              </a:srgbClr>
            </a:solidFill>
            <a:prstDash val="solid"/>
          </a:ln>
        </p:spPr>
        <p:txBody>
          <a:bodyPr/>
          <a:p/>
        </p:txBody>
      </p:sp>
      <p:sp>
        <p:nvSpPr>
          <p:cNvPr id="17" name="Text 15"/>
          <p:cNvSpPr/>
          <p:nvPr/>
        </p:nvSpPr>
        <p:spPr>
          <a:xfrm>
            <a:off x="7364578" y="3401568"/>
            <a:ext cx="1938528"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Inter" pitchFamily="34" charset="0"/>
                <a:ea typeface="Inter" pitchFamily="34" charset="-122"/>
                <a:cs typeface="Inter" pitchFamily="34" charset="-120"/>
              </a:rPr>
              <a:t>Live ANPR feeds</a:t>
            </a:r>
            <a:endParaRPr lang="en-US" sz="1250" dirty="0"/>
          </a:p>
        </p:txBody>
      </p:sp>
      <p:sp>
        <p:nvSpPr>
          <p:cNvPr id="18" name="Shape 16"/>
          <p:cNvSpPr/>
          <p:nvPr/>
        </p:nvSpPr>
        <p:spPr>
          <a:xfrm>
            <a:off x="566928" y="4526280"/>
            <a:ext cx="11064240" cy="0"/>
          </a:xfrm>
          <a:prstGeom prst="line">
            <a:avLst/>
          </a:prstGeom>
          <a:noFill/>
          <a:ln w="12700">
            <a:solidFill>
              <a:srgbClr val="374151"/>
            </a:solidFill>
            <a:prstDash val="solid"/>
          </a:ln>
        </p:spPr>
        <p:txBody>
          <a:bodyPr/>
          <a:p/>
        </p:txBody>
      </p:sp>
      <p:sp>
        <p:nvSpPr>
          <p:cNvPr id="19" name="Text 17"/>
          <p:cNvSpPr/>
          <p:nvPr/>
        </p:nvSpPr>
        <p:spPr>
          <a:xfrm>
            <a:off x="566928" y="4754880"/>
            <a:ext cx="10972800" cy="777240"/>
          </a:xfrm>
          <a:prstGeom prst="rect">
            <a:avLst/>
          </a:prstGeom>
          <a:noFill/>
          <a:ln/>
        </p:spPr>
        <p:txBody>
          <a:bodyPr wrap="square" lIns="0" tIns="0" rIns="0" bIns="0" rtlCol="0" anchor="ctr"/>
          <a:lstStyle/>
          <a:p>
            <a:pPr marL="0" indent="0">
              <a:buNone/>
            </a:pPr>
            <a:r>
              <a:rPr lang="en-US" sz="1900" b="1" i="1" dirty="0">
                <a:solidFill>
                  <a:srgbClr val="FFFFFF"/>
                </a:solidFill>
                <a:latin typeface="Inter" pitchFamily="34" charset="0"/>
                <a:ea typeface="Inter" pitchFamily="34" charset="-122"/>
                <a:cs typeface="Inter" pitchFamily="34" charset="-120"/>
              </a:rPr>
              <a:t>Atlas turns traffic enforcement from reactive to predictive — and proves it on the map.</a:t>
            </a:r>
            <a:endParaRPr lang="en-US" sz="1900" dirty="0"/>
          </a:p>
        </p:txBody>
      </p:sp>
      <p:sp>
        <p:nvSpPr>
          <p:cNvPr id="22" name="Text 19"/>
          <p:cNvSpPr/>
          <p:nvPr/>
        </p:nvSpPr>
        <p:spPr>
          <a:xfrm>
            <a:off x="7772400" y="5943600"/>
            <a:ext cx="3840480" cy="384048"/>
          </a:xfrm>
          <a:prstGeom prst="rect">
            <a:avLst/>
          </a:prstGeom>
          <a:noFill/>
          <a:ln/>
        </p:spPr>
        <p:txBody>
          <a:bodyPr wrap="square" lIns="0" tIns="0" rIns="0" bIns="0" rtlCol="0" anchor="ctr"/>
          <a:lstStyle/>
          <a:p>
            <a:pPr marL="0" indent="0" algn="r">
              <a:buNone/>
            </a:pPr>
            <a:r>
              <a:rPr lang="en-US" sz="1000" dirty="0">
                <a:solidFill>
                  <a:srgbClr val="9CA3AF"/>
                </a:solidFill>
                <a:latin typeface="Consolas" pitchFamily="34" charset="0"/>
                <a:ea typeface="Consolas" pitchFamily="34" charset="-122"/>
                <a:cs typeface="Consolas" pitchFamily="34" charset="-120"/>
              </a:rPr>
              <a:t>PREDICTIVE TRAFFIC COMMAND</a:t>
            </a:r>
            <a:endParaRPr lang="en-US" sz="1000" dirty="0"/>
          </a:p>
        </p:txBody>
      </p:sp>
      <p:pic>
        <p:nvPicPr>
          <p:cNvPr id="24" name="Picture 23" descr="A black and white logo&#10;&#10;AI-generated content may be incorrect.">
            <a:extLst>
              <a:ext uri="{FF2B5EF4-FFF2-40B4-BE49-F238E27FC236}">
                <a16:creationId xmlns:a16="http://schemas.microsoft.com/office/drawing/2014/main" id="{99AAB921-7D27-18C7-E602-1D8AFD1AE8A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2021" y1="60128" x2="32021" y2="60128"/>
                        <a14:foregroundMark x1="42755" y1="49041" x2="42755" y2="49041"/>
                        <a14:foregroundMark x1="52713" y1="49467" x2="52713" y2="49467"/>
                        <a14:foregroundMark x1="61300" y1="50533" x2="61300" y2="50533"/>
                        <a14:foregroundMark x1="75909" y1="48934" x2="75909" y2="48934"/>
                        <a14:foregroundMark x1="87716" y1="51706" x2="87716" y2="51706"/>
                      </a14:backgroundRemoval>
                    </a14:imgEffect>
                  </a14:imgLayer>
                </a14:imgProps>
              </a:ext>
            </a:extLst>
          </a:blip>
          <a:stretch>
            <a:fillRect/>
          </a:stretch>
        </p:blipFill>
        <p:spPr>
          <a:xfrm>
            <a:off x="265176" y="5564025"/>
            <a:ext cx="2042642" cy="1143197"/>
          </a:xfrm>
          <a:prstGeom prst="rect">
            <a:avLst/>
          </a:prstGeom>
        </p:spPr>
      </p:pic>
    </p:spTree>
  </p:cSld>
  <p:clrMapOvr>
    <a:masterClrMapping/>
  </p:clrMapOvr>
  <p:transition spee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755</Words>
  <Application>Microsoft Office PowerPoint</Application>
  <PresentationFormat>Widescreen</PresentationFormat>
  <Paragraphs>155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Consolas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 Predictive Traffic Command</dc:title>
  <dc:subject>PptxGenJS Presentation</dc:subject>
  <dc:creator>Atlas</dc:creator>
  <cp:lastModifiedBy>Anuj sharma</cp:lastModifiedBy>
  <cp:revision>4</cp:revision>
  <dcterms:created xsi:type="dcterms:W3CDTF">2026-06-21T15:37:14Z</dcterms:created>
  <dcterms:modified xsi:type="dcterms:W3CDTF">2026-06-21T18:27:23Z</dcterms:modified>
</cp:coreProperties>
</file>